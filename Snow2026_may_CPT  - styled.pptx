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27" r:id="rId46"/>
    <p:sldId id="303" r:id="rId47"/>
    <p:sldId id="305" r:id="rId48"/>
    <p:sldId id="306" r:id="rId49"/>
    <p:sldId id="307" r:id="rId50"/>
    <p:sldId id="308" r:id="rId51"/>
    <p:sldId id="309" r:id="rId52"/>
    <p:sldId id="310" r:id="rId53"/>
    <p:sldId id="311" r:id="rId54"/>
    <p:sldId id="312"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59" autoAdjust="0"/>
    <p:restoredTop sz="94686" autoAdjust="0"/>
  </p:normalViewPr>
  <p:slideViewPr>
    <p:cSldViewPr snapToGrid="0" snapToObjects="1">
      <p:cViewPr varScale="1">
        <p:scale>
          <a:sx n="140" d="100"/>
          <a:sy n="140" d="100"/>
        </p:scale>
        <p:origin x="224" y="-45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83E7-82FD-7A65-F54C-ED3BC80B0963}"/>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D0B8418-29F6-83BE-D015-0636FF4938E2}"/>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C5BCBBDF-DEBB-6C96-8825-C66F7F1C40EE}"/>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29754104-5FD2-D32F-754F-AE4A47A4EE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EA402-2370-AF6B-1108-2B70A92447FF}"/>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6056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48A1-1752-D086-7915-3B16FCCE2C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BF1A03-CCBC-9CD4-1CBB-A3912ECCC1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41DA2-4D51-A004-1330-12D6602E7CD6}"/>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A34EF9E9-6B8E-8F8E-2335-13F56B450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089F1-5837-6093-1AE1-71C4FE4B994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28764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8315-59F7-5576-0709-075EF3B63720}"/>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9CF404-B067-3CF3-797C-2D363E67AA78}"/>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3FD6C5-B7DA-BB2B-93B5-FA6736DF158F}"/>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C012F224-C90F-B7EA-ACAE-602B3FA563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FB63B-CDAD-9C02-7E20-D000417543B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6439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BE14-5766-9D70-E22F-7DF462505C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A4A2F4-CA55-C0E1-F5DD-1CF8C317A323}"/>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DB0FD2-1978-5EA2-021A-3E8C84827673}"/>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2E28E6-BD6A-5D78-AC02-011F4187FE97}"/>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6" name="Footer Placeholder 5">
            <a:extLst>
              <a:ext uri="{FF2B5EF4-FFF2-40B4-BE49-F238E27FC236}">
                <a16:creationId xmlns:a16="http://schemas.microsoft.com/office/drawing/2014/main" id="{58B56348-A14E-A452-4674-75EA7C8CD1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FA3C7-BC5E-54C5-9D90-39B0E360A443}"/>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22297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0EE7-B094-A948-2FFC-1B73231610C5}"/>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B93D7B-BAE5-9D53-1AF1-35BCC6D8A4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689B2A1-9AE2-3B46-C96C-55B1C9D8607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7B55D-93FD-D455-F25C-8C3F40052DD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50897E5A-7C9E-B65A-93FE-4FB16FD464A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1C7C7-3CEA-2129-AF99-8BA9894D028F}"/>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8" name="Footer Placeholder 7">
            <a:extLst>
              <a:ext uri="{FF2B5EF4-FFF2-40B4-BE49-F238E27FC236}">
                <a16:creationId xmlns:a16="http://schemas.microsoft.com/office/drawing/2014/main" id="{4DF78705-0C75-3361-E98B-6CAEA6686C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18223E-8A87-A8FB-0154-2D1FF747E98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090707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1B25E-4546-0C7B-2940-FFF73D3AC2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0BAB3A-EB54-9801-6A4F-5C28D9E2D4A2}"/>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4" name="Footer Placeholder 3">
            <a:extLst>
              <a:ext uri="{FF2B5EF4-FFF2-40B4-BE49-F238E27FC236}">
                <a16:creationId xmlns:a16="http://schemas.microsoft.com/office/drawing/2014/main" id="{DBE292F7-7EE3-AF9E-3288-E70FB27F7F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3DFFF0-5219-1EF9-0417-26A6E276D180}"/>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6153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24BB7-E091-9D35-3F5D-A1C1764163C0}"/>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3" name="Footer Placeholder 2">
            <a:extLst>
              <a:ext uri="{FF2B5EF4-FFF2-40B4-BE49-F238E27FC236}">
                <a16:creationId xmlns:a16="http://schemas.microsoft.com/office/drawing/2014/main" id="{BE569C0B-FDF2-94AE-1B7B-079AE1F112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EB9E1A-157E-2F3A-B725-E0754EF1CA3D}"/>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8598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18708-DD35-9389-0D99-FC2FCAB2FC12}"/>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F3F46EA-6E7E-C09D-5AFB-6BD2AE8296E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A73769-8015-79A1-BC9D-654514B540E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9935A40-78EE-2A85-62D4-85122751483E}"/>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6" name="Footer Placeholder 5">
            <a:extLst>
              <a:ext uri="{FF2B5EF4-FFF2-40B4-BE49-F238E27FC236}">
                <a16:creationId xmlns:a16="http://schemas.microsoft.com/office/drawing/2014/main" id="{DE792BCB-ABFB-DEBA-53DA-ED07EFA700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E671CA-DE53-A3F4-4486-4D1F8F460DC7}"/>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768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06E6-CFCC-5910-B886-FDEE88E8E89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27636D7-3CAD-AA00-831E-CF5B082020C4}"/>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218CC3F-1500-3949-0294-179BF81ED0E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9593900-09C6-A413-143F-0CE7C2BCAFA9}"/>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6" name="Footer Placeholder 5">
            <a:extLst>
              <a:ext uri="{FF2B5EF4-FFF2-40B4-BE49-F238E27FC236}">
                <a16:creationId xmlns:a16="http://schemas.microsoft.com/office/drawing/2014/main" id="{B1B63E43-78E2-C606-DED3-94AB32F07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6071F-1BC7-2D34-F5FD-2F81512DD202}"/>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7568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3BE32-25B3-6A47-17B3-AB11ED1486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E3C8C0-1654-EFCD-58C3-A07DF509BE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1CFCC7-1E83-30D0-AAC3-404AFBA4CDDD}"/>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410E42B0-59EF-D88E-659A-447B5DD04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65574D-2C00-279D-1D92-6539FE2F85D6}"/>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19623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C2832D-7278-A76F-78E4-C66F10F03B25}"/>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666DD7-1C79-E293-71FB-AA217DD497CB}"/>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9F78A3-D727-3643-78D2-6AE5526100E6}"/>
              </a:ext>
            </a:extLst>
          </p:cNvPr>
          <p:cNvSpPr>
            <a:spLocks noGrp="1"/>
          </p:cNvSpPr>
          <p:nvPr>
            <p:ph type="dt" sz="half" idx="10"/>
          </p:nvPr>
        </p:nvSpPr>
        <p:spPr/>
        <p:txBody>
          <a:body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762ABBF5-F0C3-75D0-DB2E-E050A070E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6971E8-85B0-BEF4-92EE-A281AA3C3EFC}"/>
              </a:ext>
            </a:extLst>
          </p:cNvPr>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578609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BDA69B-E865-AEF6-6F67-FAEA4B1C417D}"/>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71BF26-C1A5-E91E-2E4B-FFE0CC86CDE6}"/>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7CBDFE-7BC8-01CE-9C34-3C2C1FA50ED0}"/>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241EB5C9-1307-BA42-ABA2-0BC069CD8E7F}" type="datetimeFigureOut">
              <a:rPr lang="en-US" smtClean="0"/>
              <a:t>5/11/26</a:t>
            </a:fld>
            <a:endParaRPr lang="en-US"/>
          </a:p>
        </p:txBody>
      </p:sp>
      <p:sp>
        <p:nvSpPr>
          <p:cNvPr id="5" name="Footer Placeholder 4">
            <a:extLst>
              <a:ext uri="{FF2B5EF4-FFF2-40B4-BE49-F238E27FC236}">
                <a16:creationId xmlns:a16="http://schemas.microsoft.com/office/drawing/2014/main" id="{F929A496-90AA-8A6C-88CB-C5D830EF591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624616-FA2A-5D4B-D491-E213A5474B7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9341627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github.com/eryznar/Chionoecetes.maturity.workflow" TargetMode="External"/><Relationship Id="rId2" Type="http://schemas.openxmlformats.org/officeDocument/2006/relationships/hyperlink" Target="https://github.com/szuwalski/snow_crab/tree/dev-Grant" TargetMode="External"/><Relationship Id="rId1" Type="http://schemas.openxmlformats.org/officeDocument/2006/relationships/slideLayout" Target="../slideLayouts/slideLayout2.xml"/><Relationship Id="rId4" Type="http://schemas.openxmlformats.org/officeDocument/2006/relationships/hyperlink" Target="https://github.com/GMACS-proj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t>Eastern Bering Sea snow crab</a:t>
            </a:r>
          </a:p>
        </p:txBody>
      </p:sp>
      <p:sp>
        <p:nvSpPr>
          <p:cNvPr id="3" name="Subtitle 2"/>
          <p:cNvSpPr>
            <a:spLocks noGrp="1"/>
          </p:cNvSpPr>
          <p:nvPr>
            <p:ph type="subTitle" idx="1"/>
          </p:nvPr>
        </p:nvSpPr>
        <p:spPr/>
        <p:txBody>
          <a:bodyPr/>
          <a:lstStyle/>
          <a:p>
            <a:pPr marL="0" lvl="0" indent="0">
              <a:buNone/>
            </a:pPr>
            <a:r>
              <a:t>Preliminary 2026 assessment</a:t>
            </a:r>
            <a:br/>
            <a:br/>
            <a:r>
              <a:t>Grant Adams</a:t>
            </a:r>
            <a:br/>
            <a:r>
              <a:t>Cody Szuwalski</a:t>
            </a:r>
          </a:p>
        </p:txBody>
      </p:sp>
      <p:sp>
        <p:nvSpPr>
          <p:cNvPr id="4" name="Date Placeholder 3"/>
          <p:cNvSpPr>
            <a:spLocks noGrp="1"/>
          </p:cNvSpPr>
          <p:nvPr>
            <p:ph type="dt" sz="half" idx="10"/>
          </p:nvPr>
        </p:nvSpPr>
        <p:spPr/>
        <p:txBody>
          <a:bodyPr/>
          <a:lstStyle/>
          <a:p>
            <a:pPr marL="0" lvl="0" indent="0">
              <a:buNone/>
            </a:pPr>
            <a:r>
              <a:t>2026-05-01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Context and SSC/CPT requests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EBS snow crab context</a:t>
            </a:r>
          </a:p>
        </p:txBody>
      </p:sp>
      <p:sp>
        <p:nvSpPr>
          <p:cNvPr id="3" name="Content Placeholder 2"/>
          <p:cNvSpPr>
            <a:spLocks noGrp="1"/>
          </p:cNvSpPr>
          <p:nvPr>
            <p:ph sz="half" idx="1"/>
          </p:nvPr>
        </p:nvSpPr>
        <p:spPr/>
        <p:txBody>
          <a:bodyPr>
            <a:normAutofit fontScale="85000" lnSpcReduction="20000"/>
          </a:bodyPr>
          <a:lstStyle/>
          <a:p>
            <a:pPr lvl="0"/>
            <a:r>
              <a:t>No federal OFL/ABC has ever constrained removals.</a:t>
            </a:r>
          </a:p>
          <a:p>
            <a:pPr lvl="0"/>
            <a:r>
              <a:t>Despite conservative management relative to OFL, the stock remains at historical lows.</a:t>
            </a:r>
          </a:p>
          <a:p>
            <a:pPr lvl="0"/>
            <a:r>
              <a:t>Commercially preferred males (&gt;=101 mm CW) at all-time lows.</a:t>
            </a:r>
          </a:p>
          <a:p>
            <a:pPr lvl="0"/>
            <a:r>
              <a:t>2025 survey commercially preferred male biomass: </a:t>
            </a:r>
            <a:r>
              <a:rPr b="1"/>
              <a:t>23.28 kt</a:t>
            </a:r>
            <a:r>
              <a:t> (for reference, candidate Tier 3 OFLs span 36–60 kt).</a:t>
            </a:r>
          </a:p>
          <a:p>
            <a:pPr lvl="0"/>
            <a:r>
              <a:t>Stock declared overfished in 2021; rebuilding update will be added to the September SAFE.</a:t>
            </a:r>
          </a:p>
        </p:txBody>
      </p:sp>
      <p:sp>
        <p:nvSpPr>
          <p:cNvPr id="4" name="Content Placeholder 3"/>
          <p:cNvSpPr>
            <a:spLocks noGrp="1"/>
          </p:cNvSpPr>
          <p:nvPr>
            <p:ph sz="half" idx="2"/>
          </p:nvPr>
        </p:nvSpPr>
        <p:spPr/>
        <p:txBody>
          <a:bodyPr>
            <a:normAutofit fontScale="85000" lnSpcReduction="20000"/>
          </a:bodyPr>
          <a:lstStyle/>
          <a:p>
            <a:pPr marL="0" lvl="0" indent="0">
              <a:buNone/>
            </a:pPr>
            <a:r>
              <a:rPr b="1"/>
              <a:t>Currency of management</a:t>
            </a:r>
          </a:p>
          <a:p>
            <a:pPr marL="0" lvl="0" indent="0">
              <a:buNone/>
            </a:pPr>
            <a:r>
              <a:t>“MMB”:</a:t>
            </a:r>
          </a:p>
          <a:p>
            <a:pPr lvl="0"/>
            <a:r>
              <a:t>OFL will not be constraining</a:t>
            </a:r>
          </a:p>
          <a:p>
            <a:pPr lvl="0"/>
            <a:r>
              <a:t>Allows removal of all large males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Purpose of this preliminary cycle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pPr marL="0" lvl="0" indent="0">
                  <a:buNone/>
                </a:pPr>
                <a:r>
                  <a:t>This document presents </a:t>
                </a:r>
                <a:r>
                  <a:rPr b="1"/>
                  <a:t>model explorations</a:t>
                </a:r>
                <a:r>
                  <a:t> requested by the SSC and CPT and seeks guidance on which models to advance to the </a:t>
                </a:r>
                <a:r>
                  <a:rPr b="1"/>
                  <a:t>September 2026</a:t>
                </a:r>
                <a:r>
                  <a:t> final assessment.</a:t>
                </a:r>
              </a:p>
              <a:p>
                <a:pPr marL="0" lvl="0" indent="0">
                  <a:buNone/>
                </a:pPr>
                <a:r>
                  <a:t>Three axes of uncertainty were evaluated:</a:t>
                </a:r>
              </a:p>
              <a:p>
                <a:pPr marL="342900" lvl="0" indent="-342900">
                  <a:buAutoNum type="arabicPeriod"/>
                </a:pPr>
                <a:r>
                  <a:rPr b="1"/>
                  <a:t>Data processing updates</a:t>
                </a:r>
                <a:r>
                  <a:t> – corrected total-male composition, enlarged plus group, and immature survey index inclusion.</a:t>
                </a:r>
              </a:p>
              <a:p>
                <a:pPr marL="342900" lvl="0" indent="-342900">
                  <a:buAutoNum type="arabicPeriod"/>
                </a:pPr>
                <a:r>
                  <a:rPr b="1"/>
                  <a:t>Updated maturity</a:t>
                </a:r>
                <a:r>
                  <a:t> developed by the Kodiak lab (Ryznar, in prep).</a:t>
                </a:r>
              </a:p>
              <a:p>
                <a:pPr marL="342900" lvl="0" indent="-342900">
                  <a:buAutoNum type="arabicPeriod"/>
                </a:pPr>
                <a:r>
                  <a:rPr b="1"/>
                  <a:t>Inclusion of hybrids</a:t>
                </a:r>
                <a:r>
                  <a:t> (snow </a:t>
                </a:r>
                <a14:m>
                  <m:oMath xmlns:m="http://schemas.openxmlformats.org/officeDocument/2006/math">
                    <m:r>
                      <a:rPr>
                        <a:latin typeface="Cambria Math" panose="02040503050406030204" pitchFamily="18" charset="0"/>
                      </a:rPr>
                      <m:t>×</m:t>
                    </m:r>
                  </m:oMath>
                </a14:m>
                <a:r>
                  <a:t> Tanner) in survey and/or fishery data.</a:t>
                </a:r>
              </a:p>
              <a:p>
                <a:pPr marL="0" lvl="0" indent="0">
                  <a:buNone/>
                </a:pPr>
                <a:r>
                  <a:rPr b="1"/>
                  <a:t>14 models</a:t>
                </a:r>
                <a:r>
                  <a:t> are presented; </a:t>
                </a:r>
                <a:r>
                  <a:rPr b="1"/>
                  <a:t>no author-preferred model</a:t>
                </a:r>
                <a:r>
                  <a:t> is recommended at this time.</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35" b="-1556"/>
                </a:stretch>
              </a:blipFill>
            </p:spPr>
            <p:txBody>
              <a:bodyPr/>
              <a:lstStyle/>
              <a:p>
                <a:r>
                  <a:rPr 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SSC comment: hybrids</a:t>
            </a:r>
          </a:p>
        </p:txBody>
      </p:sp>
      <p:sp>
        <p:nvSpPr>
          <p:cNvPr id="3" name="Content Placeholder 2"/>
          <p:cNvSpPr>
            <a:spLocks noGrp="1"/>
          </p:cNvSpPr>
          <p:nvPr>
            <p:ph idx="1"/>
          </p:nvPr>
        </p:nvSpPr>
        <p:spPr/>
        <p:txBody>
          <a:bodyPr>
            <a:normAutofit fontScale="92500" lnSpcReduction="20000"/>
          </a:bodyPr>
          <a:lstStyle/>
          <a:p>
            <a:pPr marL="0" lvl="0" indent="0">
              <a:buNone/>
            </a:pPr>
            <a:r>
              <a:rPr i="1"/>
              <a:t>2025(10) SSC. As with a similar SSC recommendation for Tanner crab, the SSC recommends consideration of different inclusions/exclusions of hybrids into the snow crab assessment (i.e., in survey and catch data) to evaluate sensitivity to these options and ensure an internally consistent approach.</a:t>
            </a:r>
          </a:p>
          <a:p>
            <a:pPr marL="0" lvl="0" indent="0">
              <a:buNone/>
            </a:pPr>
            <a:r>
              <a:rPr b="1"/>
              <a:t>Response.</a:t>
            </a:r>
            <a:r>
              <a:t> We evaluated inclusion of hybrids in the survey and fishery time series independently and jointly (</a:t>
            </a:r>
            <a:r>
              <a:rPr>
                <a:latin typeface="Courier"/>
              </a:rPr>
              <a:t>Models 25.3a--25.3d</a:t>
            </a:r>
            <a:r>
              <a:t>).</a:t>
            </a:r>
          </a:p>
          <a:p>
            <a:pPr lvl="0"/>
            <a:r>
              <a:t>Effect on management advice was </a:t>
            </a:r>
            <a:r>
              <a:rPr b="1"/>
              <a:t>modest</a:t>
            </a:r>
            <a:r>
              <a:t>.</a:t>
            </a:r>
          </a:p>
          <a:p>
            <a:pPr lvl="0"/>
            <a:r>
              <a:t>Recommend </a:t>
            </a:r>
            <a:r>
              <a:rPr b="1"/>
              <a:t>excluding hybrids from further assessments</a:t>
            </a:r>
            <a:r>
              <a:t> because they are avoided by the directed fishery.</a:t>
            </a:r>
          </a:p>
          <a:p>
            <a:pPr lvl="0"/>
            <a:r>
              <a:t>Retained catch already contains hybrids that cannot be separated from snow crab; recommend a smaller buffer on OFL to account for this.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SSC comment: jittering and likelihood profiles</a:t>
            </a:r>
          </a:p>
        </p:txBody>
      </p:sp>
      <p:sp>
        <p:nvSpPr>
          <p:cNvPr id="3" name="Content Placeholder 2"/>
          <p:cNvSpPr>
            <a:spLocks noGrp="1"/>
          </p:cNvSpPr>
          <p:nvPr>
            <p:ph idx="1"/>
          </p:nvPr>
        </p:nvSpPr>
        <p:spPr/>
        <p:txBody>
          <a:bodyPr>
            <a:normAutofit fontScale="92500" lnSpcReduction="20000"/>
          </a:bodyPr>
          <a:lstStyle/>
          <a:p>
            <a:pPr marL="0" lvl="0" indent="0">
              <a:buNone/>
            </a:pPr>
            <a:r>
              <a:rPr i="1"/>
              <a:t>2025(10) SSC. The SSC recommends the use of likelihood profiles to describe uncertainty and uses jittering analyses only to ensure that the results provided come from the model with the lowest negative log likelihood.</a:t>
            </a:r>
          </a:p>
          <a:p>
            <a:pPr lvl="0"/>
            <a:r>
              <a:t>We ran </a:t>
            </a:r>
            <a:r>
              <a:rPr b="1"/>
              <a:t>100-jitter</a:t>
            </a:r>
            <a:r>
              <a:t> runs across six models across scenarios.</a:t>
            </a:r>
          </a:p>
          <a:p>
            <a:pPr lvl="0"/>
            <a:r>
              <a:rPr b="1"/>
              <a:t>Likelihood profiles will be included in September 2026.</a:t>
            </a:r>
          </a:p>
          <a:p>
            <a:pPr marL="0" lvl="0" indent="0">
              <a:buNone/>
            </a:pPr>
            <a:r>
              <a:rPr i="1"/>
              <a:t>2024(10) SSC. The SSC requested investigation of the bimodality observed in the 2024 jitter analysis (two clouds of OFLs differing by ~5,000 t).</a:t>
            </a:r>
          </a:p>
          <a:p>
            <a:pPr marL="0" lvl="0" indent="0">
              <a:buNone/>
            </a:pPr>
            <a:r>
              <a:t>The bimodality persists in most 2026 candidates </a:t>
            </a:r>
            <a:r>
              <a:rPr b="1"/>
              <a:t>except</a:t>
            </a:r>
            <a:r>
              <a:t> when the immature survey index is included alongside the updated plus group (</a:t>
            </a:r>
            <a:r>
              <a:rPr>
                <a:latin typeface="Courier"/>
              </a:rPr>
              <a:t>Model 25.1e</a:t>
            </a:r>
            <a:r>
              <a:t>, </a:t>
            </a:r>
            <a:r>
              <a:rPr>
                <a:latin typeface="Courier"/>
              </a:rPr>
              <a:t>Model 25.2d</a:t>
            </a:r>
            <a:r>
              <a:t>). </a:t>
            </a:r>
            <a:r>
              <a:rPr b="1"/>
              <a:t>However</a:t>
            </a:r>
            <a:r>
              <a:t>, this leads to high estimates of mature male M (&gt;0.6).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SSC comment: maturity ogive</a:t>
            </a:r>
          </a:p>
        </p:txBody>
      </p:sp>
      <p:sp>
        <p:nvSpPr>
          <p:cNvPr id="3" name="Content Placeholder 2"/>
          <p:cNvSpPr>
            <a:spLocks noGrp="1"/>
          </p:cNvSpPr>
          <p:nvPr>
            <p:ph idx="1"/>
          </p:nvPr>
        </p:nvSpPr>
        <p:spPr/>
        <p:txBody>
          <a:bodyPr>
            <a:normAutofit lnSpcReduction="10000"/>
          </a:bodyPr>
          <a:lstStyle/>
          <a:p>
            <a:pPr marL="0" lvl="0" indent="0">
              <a:buNone/>
            </a:pPr>
            <a:r>
              <a:rPr i="1"/>
              <a:t>2024(10) SSC. The SSC again requests an analysis of the probability of maturing/terminal molt which addresses the observation error in these data and the lack of a monotonically increasing curve…</a:t>
            </a:r>
          </a:p>
          <a:p>
            <a:pPr lvl="0"/>
            <a:r>
              <a:rPr b="1"/>
              <a:t>Kodiak lab presented an updated workflow</a:t>
            </a:r>
            <a:r>
              <a:t> in January 2025; further refinements to be presented at this meeting.</a:t>
            </a:r>
          </a:p>
          <a:p>
            <a:pPr lvl="0"/>
            <a:r>
              <a:t>The new workflow uses an </a:t>
            </a:r>
            <a:r>
              <a:rPr b="1">
                <a:latin typeface="Courier"/>
              </a:rPr>
              <a:t>sdmTMB</a:t>
            </a:r>
            <a:r>
              <a:rPr b="1"/>
              <a:t> spatiotemporal model</a:t>
            </a:r>
            <a:r>
              <a:t> fit to chela-based maturity classifications.</a:t>
            </a:r>
          </a:p>
          <a:p>
            <a:pPr lvl="0"/>
            <a:r>
              <a:t>We present </a:t>
            </a:r>
            <a:r>
              <a:rPr b="1"/>
              <a:t>two maturity ogive scenarios</a:t>
            </a:r>
            <a:r>
              <a:t> (</a:t>
            </a:r>
            <a:r>
              <a:rPr>
                <a:latin typeface="Courier"/>
              </a:rPr>
              <a:t>Models 25.2</a:t>
            </a:r>
            <a:r>
              <a:t>).</a:t>
            </a:r>
          </a:p>
          <a:p>
            <a:pPr lvl="0"/>
            <a:r>
              <a:t>Observation error is not yet propagated into the assessment – this is an area of future improvement.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SSC comment: morphometric maturity overlay (Fig. 9)</a:t>
            </a:r>
          </a:p>
        </p:txBody>
      </p:sp>
      <p:sp>
        <p:nvSpPr>
          <p:cNvPr id="4" name="Text Placeholder 3"/>
          <p:cNvSpPr>
            <a:spLocks noGrp="1"/>
          </p:cNvSpPr>
          <p:nvPr>
            <p:ph type="body" sz="half" idx="2"/>
          </p:nvPr>
        </p:nvSpPr>
        <p:spPr/>
        <p:txBody>
          <a:bodyPr/>
          <a:lstStyle/>
          <a:p>
            <a:pPr marL="0" lvl="0" indent="0">
              <a:buNone/>
            </a:pPr>
            <a:r>
              <a:rPr i="1"/>
              <a:t>2025(10) SSC. The SSC recommends that morphometric maturity status be overlaid on the size distribution plots to allow visual tracking of growth and the transition to maturity by cohort.</a:t>
            </a:r>
          </a:p>
          <a:p>
            <a:pPr marL="0" lvl="0" indent="0">
              <a:buNone/>
            </a:pPr>
            <a:r>
              <a:t>Updated figure with new survey + new maturity workflow will be in the September document.</a:t>
            </a:r>
          </a:p>
        </p:txBody>
      </p:sp>
      <p:pic>
        <p:nvPicPr>
          <p:cNvPr id="3" name="Picture 1" descr="NumbersMaturity.png"/>
          <p:cNvPicPr>
            <a:picLocks noGrp="1" noChangeAspect="1"/>
          </p:cNvPicPr>
          <p:nvPr/>
        </p:nvPicPr>
        <p:blipFill>
          <a:blip r:embed="rId2"/>
          <a:stretch>
            <a:fillRect/>
          </a:stretch>
        </p:blipFill>
        <p:spPr bwMode="auto">
          <a:xfrm>
            <a:off x="4572000" y="203199"/>
            <a:ext cx="3762828" cy="4703535"/>
          </a:xfrm>
          <a:prstGeom prst="rect">
            <a:avLst/>
          </a:prstGeom>
          <a:noFill/>
          <a:ln w="9525">
            <a:noFill/>
            <a:headEnd/>
            <a:tailEnd/>
          </a:ln>
        </p:spPr>
      </p:pic>
      <p:sp>
        <p:nvSpPr>
          <p:cNvPr id="5" name="TextBox 3"/>
          <p:cNvSpPr txBox="1"/>
          <p:nvPr/>
        </p:nvSpPr>
        <p:spPr>
          <a:xfrm>
            <a:off x="-121557" y="4147741"/>
            <a:ext cx="3762828" cy="508000"/>
          </a:xfrm>
          <a:prstGeom prst="rect">
            <a:avLst/>
          </a:prstGeom>
          <a:noFill/>
        </p:spPr>
        <p:txBody>
          <a:bodyPr/>
          <a:lstStyle/>
          <a:p>
            <a:pPr marL="0" lvl="0" indent="0" algn="ctr">
              <a:buNone/>
            </a:pPr>
            <a:r>
              <a:rPr sz="1200" dirty="0"/>
              <a:t>Numbers of immature/mature crab at size from the survey, by year (legacy maturity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Other SSC items addressed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0000" lnSpcReduction="20000"/>
              </a:bodyPr>
              <a:lstStyle/>
              <a:p>
                <a:pPr lvl="0"/>
                <a:r>
                  <a:rPr b="1"/>
                  <a:t>Rebuilding analysis.</a:t>
                </a:r>
                <a:r>
                  <a:t> Will be added to the September SAFE.</a:t>
                </a:r>
              </a:p>
              <a:p>
                <a:pPr lvl="0"/>
                <a:r>
                  <a:rPr b="1"/>
                  <a:t>Tier 4 fallback</a:t>
                </a:r>
                <a:r>
                  <a:t> (2024(10) SSC; 2024(6) CPT). Standardized Tier 4 fallback (REMA-smoothed total mature male biomass; </a:t>
                </a:r>
                <a14:m>
                  <m:oMath xmlns:m="http://schemas.openxmlformats.org/officeDocument/2006/math">
                    <m:r>
                      <a:rPr>
                        <a:latin typeface="Cambria Math" panose="02040503050406030204" pitchFamily="18" charset="0"/>
                      </a:rPr>
                      <m:t>𝐹</m:t>
                    </m:r>
                  </m:oMath>
                </a14:m>
                <a:r>
                  <a:t> = best </a:t>
                </a:r>
                <a14:m>
                  <m:oMath xmlns:m="http://schemas.openxmlformats.org/officeDocument/2006/math">
                    <m:r>
                      <a:rPr>
                        <a:latin typeface="Cambria Math" panose="02040503050406030204" pitchFamily="18" charset="0"/>
                      </a:rPr>
                      <m:t>𝑀</m:t>
                    </m:r>
                  </m:oMath>
                </a14:m>
                <a:r>
                  <a:t> estimate from Tier 3) </a:t>
                </a:r>
                <a:r>
                  <a:rPr b="1"/>
                  <a:t>will be presented in September</a:t>
                </a:r>
                <a:r>
                  <a:t>. For reference, 2025 Tier 4 OFLs were 28.41, 8.64, and 6.11 kt for morphometric, large (&gt;=95 mm), and preferred (&gt;101 mm) males.</a:t>
                </a:r>
              </a:p>
              <a:p>
                <a:pPr lvl="0"/>
                <a:r>
                  <a:rPr b="1"/>
                  <a:t>Maximin / yield-per-recruit</a:t>
                </a:r>
                <a:r>
                  <a:t> (2024(10), 2025(6) SSC). Maximin work was extended in Szuwalski and Punt (2025); steepness values 0.5/0.67/0.8 do not match available reproductive data. YPR exercise was not completed.</a:t>
                </a:r>
              </a:p>
              <a:p>
                <a:pPr lvl="0"/>
                <a:r>
                  <a:rPr b="1"/>
                  <a:t>Density-dependent maturity / temperature–</a:t>
                </a:r>
                <a14:m>
                  <m:oMath xmlns:m="http://schemas.openxmlformats.org/officeDocument/2006/math">
                    <m:r>
                      <a:rPr>
                        <a:latin typeface="Cambria Math" panose="02040503050406030204" pitchFamily="18" charset="0"/>
                      </a:rPr>
                      <m:t>𝑀</m:t>
                    </m:r>
                  </m:oMath>
                </a14:m>
                <a:r>
                  <a:rPr b="1"/>
                  <a:t> link</a:t>
                </a:r>
                <a:r>
                  <a:t> (2025(6) SSC). Both relationships described in Szuwalski et al. (2026).</a:t>
                </a:r>
              </a:p>
              <a:p>
                <a:pPr lvl="0"/>
                <a:r>
                  <a:rPr b="1"/>
                  <a:t>Clutch fullness / reproductive contribution of small males</a:t>
                </a:r>
                <a:r>
                  <a:t> (2025(6) SSC). Preliminary analyses do not show an important link to recruitment; CamSled work observed small mature males grasping mature females.</a:t>
                </a:r>
              </a:p>
              <a:p>
                <a:pPr lvl="0"/>
                <a:r>
                  <a:rPr b="1"/>
                  <a:t>VAST / NBS+EBS</a:t>
                </a:r>
                <a:r>
                  <a:t> (2024(10) SSC). Indices for mature females and large males presented to May 2025 CPT; cautious about extrapolating into NBS in years without data.</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1" t="-2724" r="-161"/>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Assessment scenarios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framework</a:t>
            </a:r>
          </a:p>
        </p:txBody>
      </p:sp>
      <p:sp>
        <p:nvSpPr>
          <p:cNvPr id="3" name="Content Placeholder 2"/>
          <p:cNvSpPr>
            <a:spLocks noGrp="1"/>
          </p:cNvSpPr>
          <p:nvPr>
            <p:ph idx="1"/>
          </p:nvPr>
        </p:nvSpPr>
        <p:spPr/>
        <p:txBody>
          <a:bodyPr>
            <a:normAutofit fontScale="77500" lnSpcReduction="20000"/>
          </a:bodyPr>
          <a:lstStyle/>
          <a:p>
            <a:pPr marL="0" lvl="0" indent="0">
              <a:buNone/>
            </a:pPr>
            <a:r>
              <a:t>Same structural assumptions across all scenarios – differences only in </a:t>
            </a:r>
            <a:r>
              <a:rPr b="1"/>
              <a:t>GMACS version, data processing, maturity ogive, and hybrids</a:t>
            </a:r>
            <a:r>
              <a:t>.</a:t>
            </a:r>
          </a:p>
          <a:p>
            <a:pPr lvl="0"/>
            <a:r>
              <a:t>Probability of terminal molt at size </a:t>
            </a:r>
            <a:r>
              <a:rPr b="1"/>
              <a:t>input as data</a:t>
            </a:r>
            <a:r>
              <a:t> (varies by year and size).</a:t>
            </a:r>
          </a:p>
          <a:p>
            <a:pPr lvl="0"/>
            <a:r>
              <a:t>Survey selectivity estimated by era (1982–88; 1989–present) and sex with priors from BSFRF.</a:t>
            </a:r>
          </a:p>
          <a:p>
            <a:pPr lvl="0"/>
            <a:r>
              <a:t>Growth = linear function of pre-molt CW with specified variance.</a:t>
            </a:r>
          </a:p>
          <a:p>
            <a:pPr lvl="0"/>
            <a:r>
              <a:t>Natural mortality estimated by sex/maturity with </a:t>
            </a:r>
            <a:r>
              <a:rPr b="1"/>
              <a:t>mortality events</a:t>
            </a:r>
            <a:r>
              <a:t> in 2018 and 2019.</a:t>
            </a:r>
          </a:p>
          <a:p>
            <a:pPr lvl="0"/>
            <a:r>
              <a:t>All immature crab molt; mature crab undergo terminal molt.</a:t>
            </a:r>
          </a:p>
          <a:p>
            <a:pPr lvl="0"/>
            <a:r>
              <a:t>Total and retained fishery selectivity = logistic curves.</a:t>
            </a:r>
          </a:p>
          <a:p>
            <a:pPr lvl="0"/>
            <a:r>
              <a:t>All non-directed bycatch lumped into a single fleet.</a:t>
            </a:r>
          </a:p>
          <a:p>
            <a:pPr lvl="0"/>
            <a:r>
              <a:t>Recruitment estimated separately for males and females; first 3 size bins.</a:t>
            </a:r>
          </a:p>
          <a:p>
            <a:pPr marL="0" lvl="0" indent="0">
              <a:buNone/>
            </a:pPr>
            <a:r>
              <a:t>GMACS </a:t>
            </a:r>
            <a:r>
              <a:rPr b="1"/>
              <a:t>v2.20.34</a:t>
            </a:r>
            <a:r>
              <a:t> (compiled 2026-01-15) for all candidate runs except rolled forward model (</a:t>
            </a:r>
            <a:r>
              <a:rPr>
                <a:latin typeface="Courier"/>
              </a:rPr>
              <a:t>Model 25</a:t>
            </a:r>
            <a: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Abbreviations –</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873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tblGrid>
              <a:tr h="0">
                <a:tc>
                  <a:txBody>
                    <a:bodyPr/>
                    <a:lstStyle/>
                    <a:p>
                      <a:pPr marL="0" lvl="0" indent="0">
                        <a:buNone/>
                      </a:pPr>
                      <a:r>
                        <a:t>Suffix</a:t>
                      </a:r>
                    </a:p>
                  </a:txBody>
                  <a:tcPr/>
                </a:tc>
                <a:tc>
                  <a:txBody>
                    <a:bodyPr/>
                    <a:lstStyle/>
                    <a:p>
                      <a:pPr marL="0" lvl="0" indent="0">
                        <a:buNone/>
                      </a:pPr>
                      <a:r>
                        <a:t>Meaning</a:t>
                      </a:r>
                    </a:p>
                  </a:txBody>
                  <a:tcPr/>
                </a:tc>
                <a:extLst>
                  <a:ext uri="{0D108BD9-81ED-4DB2-BD59-A6C34878D82A}">
                    <a16:rowId xmlns:a16="http://schemas.microsoft.com/office/drawing/2014/main" val="10000"/>
                  </a:ext>
                </a:extLst>
              </a:tr>
              <a:tr h="0">
                <a:tc>
                  <a:txBody>
                    <a:bodyPr/>
                    <a:lstStyle/>
                    <a:p>
                      <a:pPr marL="0" lvl="0" indent="0">
                        <a:buNone/>
                      </a:pPr>
                      <a:r>
                        <a:rPr>
                          <a:latin typeface="Courier"/>
                        </a:rPr>
                        <a:t>update</a:t>
                      </a:r>
                    </a:p>
                  </a:txBody>
                  <a:tcPr/>
                </a:tc>
                <a:tc>
                  <a:txBody>
                    <a:bodyPr/>
                    <a:lstStyle/>
                    <a:p>
                      <a:pPr marL="0" lvl="0" indent="0">
                        <a:buNone/>
                      </a:pPr>
                      <a:r>
                        <a:t>Updated GMACS executable (2.20.34)</a:t>
                      </a:r>
                    </a:p>
                  </a:txBody>
                  <a:tcPr/>
                </a:tc>
                <a:extLst>
                  <a:ext uri="{0D108BD9-81ED-4DB2-BD59-A6C34878D82A}">
                    <a16:rowId xmlns:a16="http://schemas.microsoft.com/office/drawing/2014/main" val="10001"/>
                  </a:ext>
                </a:extLst>
              </a:tr>
              <a:tr h="0">
                <a:tc>
                  <a:txBody>
                    <a:bodyPr/>
                    <a:lstStyle/>
                    <a:p>
                      <a:pPr marL="0" lvl="0" indent="0">
                        <a:buNone/>
                      </a:pPr>
                      <a:r>
                        <a:rPr>
                          <a:latin typeface="Courier"/>
                        </a:rPr>
                        <a:t>compfix</a:t>
                      </a:r>
                    </a:p>
                  </a:txBody>
                  <a:tcPr/>
                </a:tc>
                <a:tc>
                  <a:txBody>
                    <a:bodyPr/>
                    <a:lstStyle/>
                    <a:p>
                      <a:pPr marL="0" lvl="0" indent="0">
                        <a:buNone/>
                      </a:pPr>
                      <a:r>
                        <a:t>Total-male comp file corrected</a:t>
                      </a:r>
                    </a:p>
                  </a:txBody>
                  <a:tcPr/>
                </a:tc>
                <a:extLst>
                  <a:ext uri="{0D108BD9-81ED-4DB2-BD59-A6C34878D82A}">
                    <a16:rowId xmlns:a16="http://schemas.microsoft.com/office/drawing/2014/main" val="10002"/>
                  </a:ext>
                </a:extLst>
              </a:tr>
              <a:tr h="0">
                <a:tc>
                  <a:txBody>
                    <a:bodyPr/>
                    <a:lstStyle/>
                    <a:p>
                      <a:pPr marL="0" lvl="0" indent="0">
                        <a:buNone/>
                      </a:pPr>
                      <a:r>
                        <a:rPr>
                          <a:latin typeface="Courier"/>
                        </a:rPr>
                        <a:t>plus group</a:t>
                      </a:r>
                    </a:p>
                  </a:txBody>
                  <a:tcPr/>
                </a:tc>
                <a:tc>
                  <a:txBody>
                    <a:bodyPr/>
                    <a:lstStyle/>
                    <a:p>
                      <a:pPr marL="0" lvl="0" indent="0">
                        <a:buNone/>
                      </a:pPr>
                      <a:r>
                        <a:t>Plus group widened to include all crab &gt; 135 mm CW</a:t>
                      </a:r>
                    </a:p>
                  </a:txBody>
                  <a:tcPr/>
                </a:tc>
                <a:extLst>
                  <a:ext uri="{0D108BD9-81ED-4DB2-BD59-A6C34878D82A}">
                    <a16:rowId xmlns:a16="http://schemas.microsoft.com/office/drawing/2014/main" val="10003"/>
                  </a:ext>
                </a:extLst>
              </a:tr>
              <a:tr h="0">
                <a:tc>
                  <a:txBody>
                    <a:bodyPr/>
                    <a:lstStyle/>
                    <a:p>
                      <a:pPr marL="0" lvl="0" indent="0">
                        <a:buNone/>
                      </a:pPr>
                      <a:r>
                        <a:rPr>
                          <a:latin typeface="Courier"/>
                        </a:rPr>
                        <a:t>imm_surv</a:t>
                      </a:r>
                    </a:p>
                  </a:txBody>
                  <a:tcPr/>
                </a:tc>
                <a:tc>
                  <a:txBody>
                    <a:bodyPr/>
                    <a:lstStyle/>
                    <a:p>
                      <a:pPr marL="0" lvl="0" indent="0">
                        <a:buNone/>
                      </a:pPr>
                      <a:r>
                        <a:t>Immature survey biomass index added</a:t>
                      </a:r>
                    </a:p>
                  </a:txBody>
                  <a:tcPr/>
                </a:tc>
                <a:extLst>
                  <a:ext uri="{0D108BD9-81ED-4DB2-BD59-A6C34878D82A}">
                    <a16:rowId xmlns:a16="http://schemas.microsoft.com/office/drawing/2014/main" val="10004"/>
                  </a:ext>
                </a:extLst>
              </a:tr>
              <a:tr h="0">
                <a:tc>
                  <a:txBody>
                    <a:bodyPr/>
                    <a:lstStyle/>
                    <a:p>
                      <a:pPr marL="0" lvl="0" indent="0">
                        <a:buNone/>
                      </a:pPr>
                      <a:r>
                        <a:rPr>
                          <a:latin typeface="Courier"/>
                        </a:rPr>
                        <a:t>new_mat</a:t>
                      </a:r>
                    </a:p>
                  </a:txBody>
                  <a:tcPr/>
                </a:tc>
                <a:tc>
                  <a:txBody>
                    <a:bodyPr/>
                    <a:lstStyle/>
                    <a:p>
                      <a:pPr marL="0" lvl="0" indent="0">
                        <a:buNone/>
                      </a:pPr>
                      <a:r>
                        <a:t>New </a:t>
                      </a:r>
                      <a:r>
                        <a:rPr>
                          <a:latin typeface="Courier"/>
                        </a:rPr>
                        <a:t>sdmTMB</a:t>
                      </a:r>
                      <a:r>
                        <a:t> maturity workflow (Kodiak; Ryznar in prep)</a:t>
                      </a:r>
                    </a:p>
                  </a:txBody>
                  <a:tcPr/>
                </a:tc>
                <a:extLst>
                  <a:ext uri="{0D108BD9-81ED-4DB2-BD59-A6C34878D82A}">
                    <a16:rowId xmlns:a16="http://schemas.microsoft.com/office/drawing/2014/main" val="10005"/>
                  </a:ext>
                </a:extLst>
              </a:tr>
              <a:tr h="0">
                <a:tc>
                  <a:txBody>
                    <a:bodyPr/>
                    <a:lstStyle/>
                    <a:p>
                      <a:pPr marL="0" lvl="0" indent="0">
                        <a:buNone/>
                      </a:pPr>
                      <a:r>
                        <a:rPr>
                          <a:latin typeface="Courier"/>
                        </a:rPr>
                        <a:t>hyb_fishery</a:t>
                      </a:r>
                    </a:p>
                  </a:txBody>
                  <a:tcPr/>
                </a:tc>
                <a:tc>
                  <a:txBody>
                    <a:bodyPr/>
                    <a:lstStyle/>
                    <a:p>
                      <a:pPr marL="0" lvl="0" indent="0">
                        <a:buNone/>
                      </a:pPr>
                      <a:r>
                        <a:t>Hybrid catch added to directed-fishery comp / discards</a:t>
                      </a:r>
                    </a:p>
                  </a:txBody>
                  <a:tcPr/>
                </a:tc>
                <a:extLst>
                  <a:ext uri="{0D108BD9-81ED-4DB2-BD59-A6C34878D82A}">
                    <a16:rowId xmlns:a16="http://schemas.microsoft.com/office/drawing/2014/main" val="10006"/>
                  </a:ext>
                </a:extLst>
              </a:tr>
              <a:tr h="0">
                <a:tc>
                  <a:txBody>
                    <a:bodyPr/>
                    <a:lstStyle/>
                    <a:p>
                      <a:pPr marL="0" lvl="0" indent="0">
                        <a:buNone/>
                      </a:pPr>
                      <a:r>
                        <a:rPr>
                          <a:latin typeface="Courier"/>
                        </a:rPr>
                        <a:t>hyb_surv</a:t>
                      </a:r>
                    </a:p>
                  </a:txBody>
                  <a:tcPr/>
                </a:tc>
                <a:tc>
                  <a:txBody>
                    <a:bodyPr/>
                    <a:lstStyle/>
                    <a:p>
                      <a:pPr marL="0" lvl="0" indent="0">
                        <a:buNone/>
                      </a:pPr>
                      <a:r>
                        <a:t>Hybrid added to NMFS summer trawl survey biomass / comp</a:t>
                      </a:r>
                    </a:p>
                  </a:txBody>
                  <a:tcPr/>
                </a:tc>
                <a:extLst>
                  <a:ext uri="{0D108BD9-81ED-4DB2-BD59-A6C34878D82A}">
                    <a16:rowId xmlns:a16="http://schemas.microsoft.com/office/drawing/2014/main" val="10007"/>
                  </a:ext>
                </a:extLst>
              </a:tr>
              <a:tr h="0">
                <a:tc>
                  <a:txBody>
                    <a:bodyPr/>
                    <a:lstStyle/>
                    <a:p>
                      <a:pPr marL="0" lvl="0" indent="0">
                        <a:buNone/>
                      </a:pPr>
                      <a:r>
                        <a:rPr>
                          <a:latin typeface="Courier"/>
                        </a:rPr>
                        <a:t>hyb_both</a:t>
                      </a:r>
                    </a:p>
                  </a:txBody>
                  <a:tcPr/>
                </a:tc>
                <a:tc>
                  <a:txBody>
                    <a:bodyPr/>
                    <a:lstStyle/>
                    <a:p>
                      <a:pPr marL="0" lvl="0" indent="0">
                        <a:buNone/>
                      </a:pPr>
                      <a:r>
                        <a:t>Hybrids added to both survey and fishery</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Models grouped under </a:t>
            </a:r>
            <a:r>
              <a:rPr b="1"/>
              <a:t>four axes of uncertainty</a:t>
            </a:r>
            <a: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1 – Model &amp; composition data updates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882900">
                  <a:extLst>
                    <a:ext uri="{9D8B030D-6E8A-4147-A177-3AD203B41FA5}">
                      <a16:colId xmlns:a16="http://schemas.microsoft.com/office/drawing/2014/main" val="20000"/>
                    </a:ext>
                  </a:extLst>
                </a:gridCol>
                <a:gridCol w="5346700">
                  <a:extLst>
                    <a:ext uri="{9D8B030D-6E8A-4147-A177-3AD203B41FA5}">
                      <a16:colId xmlns:a16="http://schemas.microsoft.com/office/drawing/2014/main" val="20001"/>
                    </a:ext>
                  </a:extLst>
                </a:gridCol>
              </a:tblGrid>
              <a:tr h="0">
                <a:tc>
                  <a:txBody>
                    <a:bodyPr/>
                    <a:lstStyle/>
                    <a:p>
                      <a:pPr marL="0" lvl="0" indent="0">
                        <a:buNone/>
                      </a:pPr>
                      <a:r>
                        <a:t>Model</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a:t>
                      </a:r>
                    </a:p>
                  </a:txBody>
                  <a:tcPr/>
                </a:tc>
                <a:tc>
                  <a:txBody>
                    <a:bodyPr/>
                    <a:lstStyle/>
                    <a:p>
                      <a:pPr marL="0" lvl="0" indent="0">
                        <a:buNone/>
                      </a:pPr>
                      <a:r>
                        <a:t>September 2025 author-recommended; rolled forward (no updates)</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25.1a</a:t>
                      </a:r>
                    </a:p>
                  </a:txBody>
                  <a:tcPr/>
                </a:tc>
                <a:tc>
                  <a:txBody>
                    <a:bodyPr/>
                    <a:lstStyle/>
                    <a:p>
                      <a:pPr marL="0" lvl="0" indent="0">
                        <a:buNone/>
                      </a:pPr>
                      <a:r>
                        <a:rPr>
                          <a:latin typeface="Courier"/>
                        </a:rPr>
                        <a:t>Model 25</a:t>
                      </a:r>
                      <a:r>
                        <a:t> fit with updated GMACS (2.20.34)</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25.1b</a:t>
                      </a:r>
                    </a:p>
                  </a:txBody>
                  <a:tcPr/>
                </a:tc>
                <a:tc>
                  <a:txBody>
                    <a:bodyPr/>
                    <a:lstStyle/>
                    <a:p>
                      <a:pPr marL="0" lvl="0" indent="0">
                        <a:buNone/>
                      </a:pPr>
                      <a:r>
                        <a:rPr>
                          <a:latin typeface="Courier"/>
                        </a:rPr>
                        <a:t>25.1a</a:t>
                      </a:r>
                      <a:r>
                        <a:t> + correct total-male composition file</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25.1c</a:t>
                      </a:r>
                    </a:p>
                  </a:txBody>
                  <a:tcPr/>
                </a:tc>
                <a:tc>
                  <a:txBody>
                    <a:bodyPr/>
                    <a:lstStyle/>
                    <a:p>
                      <a:pPr marL="0" lvl="0" indent="0">
                        <a:buNone/>
                      </a:pPr>
                      <a:r>
                        <a:rPr>
                          <a:latin typeface="Courier"/>
                        </a:rPr>
                        <a:t>25.1b</a:t>
                      </a:r>
                      <a:r>
                        <a:t> + plus group at &gt;135 mm CW</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t>Compfix reconciles a small file discrepancy from September 2025.</a:t>
            </a:r>
          </a:p>
          <a:p>
            <a:pPr lvl="0"/>
            <a:r>
              <a:t>Previously removed 278/2,239 (retained), total: 422/3,151 (total), and 1/1,175 (female discard) samples</a:t>
            </a:r>
          </a:p>
          <a:p>
            <a:pPr lvl="0"/>
            <a:r>
              <a:t>The </a:t>
            </a:r>
            <a:r>
              <a:rPr b="1"/>
              <a:t>plus-group change makes the model run substantially faster</a:t>
            </a:r>
            <a:r>
              <a:t> (23 min vs. 29 min) and is the </a:t>
            </a:r>
            <a:r>
              <a:rPr b="1"/>
              <a:t>structural baseline</a:t>
            </a:r>
            <a:r>
              <a:t> for most sensitivities.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Total male composition fix</a:t>
            </a:r>
          </a:p>
        </p:txBody>
      </p:sp>
      <p:sp>
        <p:nvSpPr>
          <p:cNvPr id="3" name="Content Placeholder 2"/>
          <p:cNvSpPr>
            <a:spLocks noGrp="1"/>
          </p:cNvSpPr>
          <p:nvPr>
            <p:ph sz="half" idx="1"/>
          </p:nvPr>
        </p:nvSpPr>
        <p:spPr/>
        <p:txBody>
          <a:bodyPr>
            <a:normAutofit fontScale="92500"/>
          </a:bodyPr>
          <a:lstStyle/>
          <a:p>
            <a:pPr lvl="0"/>
            <a:r>
              <a:t>Small discrepancy between discarded and males composition used in the September 2025 assessment and the version produced by the script that translates the ADF&amp;G files.</a:t>
            </a:r>
          </a:p>
          <a:p>
            <a:pPr lvl="0"/>
            <a:r>
              <a:t>Re-ran the translation script and replacing the affected total-male composition entries.</a:t>
            </a:r>
          </a:p>
          <a:p>
            <a:pPr lvl="0"/>
            <a:r>
              <a:t>Effect on management quantities is small.</a:t>
            </a:r>
          </a:p>
        </p:txBody>
      </p:sp>
      <p:pic>
        <p:nvPicPr>
          <p:cNvPr id="4" name="Picture 1" descr="Snow2026_may_CPT_files/figure-pptx/comp-compfix-update-1.png"/>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Plus group at &gt;135 mm CW</a:t>
            </a:r>
          </a:p>
        </p:txBody>
      </p:sp>
      <p:sp>
        <p:nvSpPr>
          <p:cNvPr id="3" name="Content Placeholder 2"/>
          <p:cNvSpPr>
            <a:spLocks noGrp="1"/>
          </p:cNvSpPr>
          <p:nvPr>
            <p:ph sz="half" idx="1"/>
          </p:nvPr>
        </p:nvSpPr>
        <p:spPr/>
        <p:txBody>
          <a:bodyPr>
            <a:normAutofit fontScale="85000" lnSpcReduction="20000"/>
          </a:bodyPr>
          <a:lstStyle/>
          <a:p>
            <a:pPr lvl="0"/>
            <a:r>
              <a:t>Previous model </a:t>
            </a:r>
            <a:r>
              <a:rPr b="1"/>
              <a:t>ignored crab &gt; 135 mm</a:t>
            </a:r>
            <a:r>
              <a:t>.</a:t>
            </a:r>
          </a:p>
          <a:p>
            <a:pPr lvl="0"/>
            <a:r>
              <a:t>Updated plus group lumps all crab &gt; 135 mm into a single bin for:</a:t>
            </a:r>
          </a:p>
          <a:p>
            <a:pPr lvl="1"/>
            <a:r>
              <a:t>Retained males (n = 278 of 2,239 samples)</a:t>
            </a:r>
          </a:p>
          <a:p>
            <a:pPr lvl="1"/>
            <a:r>
              <a:t>Total males (n = 422 of 3,151 samples)</a:t>
            </a:r>
          </a:p>
          <a:p>
            <a:pPr lvl="1"/>
            <a:r>
              <a:t>Discard females (n = 1 of 1,175 samples)</a:t>
            </a:r>
          </a:p>
          <a:p>
            <a:pPr lvl="0"/>
            <a:r>
              <a:rPr b="1"/>
              <a:t>Improves runtime substantially</a:t>
            </a:r>
            <a:r>
              <a:t> (23 min vs. 29 min for the comparable model).</a:t>
            </a:r>
          </a:p>
          <a:p>
            <a:pPr lvl="0"/>
            <a:r>
              <a:t>Management quantities change very little.</a:t>
            </a:r>
          </a:p>
        </p:txBody>
      </p:sp>
      <p:pic>
        <p:nvPicPr>
          <p:cNvPr id="4" name="Picture 1" descr="Snow2026_may_CPT_files/figure-pptx/comp-compfix-plusgroup-1.png"/>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2 – Immature survey biomass index</a:t>
            </a:r>
          </a:p>
        </p:txBody>
      </p:sp>
      <p:graphicFrame>
        <p:nvGraphicFramePr>
          <p:cNvPr id="6" name="Content Placeholder 5"/>
          <p:cNvGraphicFramePr>
            <a:graphicFrameLocks noGrp="1"/>
          </p:cNvGraphicFramePr>
          <p:nvPr>
            <p:ph idx="1"/>
          </p:nvPr>
        </p:nvGraphicFramePr>
        <p:xfrm>
          <a:off x="457200" y="1193800"/>
          <a:ext cx="8229600" cy="8915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25.1d</a:t>
                      </a:r>
                    </a:p>
                  </a:txBody>
                  <a:tcPr/>
                </a:tc>
                <a:tc>
                  <a:txBody>
                    <a:bodyPr/>
                    <a:lstStyle/>
                    <a:p>
                      <a:pPr marL="0" lvl="0" indent="0">
                        <a:buNone/>
                      </a:pPr>
                      <a:r>
                        <a:t>update + compfix + imm_surv</a:t>
                      </a:r>
                    </a:p>
                  </a:txBody>
                  <a:tcPr/>
                </a:tc>
                <a:tc>
                  <a:txBody>
                    <a:bodyPr/>
                    <a:lstStyle/>
                    <a:p>
                      <a:pPr marL="0" lvl="0" indent="0">
                        <a:buNone/>
                      </a:pPr>
                      <a:r>
                        <a:rPr>
                          <a:latin typeface="Courier"/>
                        </a:rPr>
                        <a:t>25.1b</a:t>
                      </a:r>
                      <a:r>
                        <a:t> + immature index</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25.1e</a:t>
                      </a:r>
                    </a:p>
                  </a:txBody>
                  <a:tcPr/>
                </a:tc>
                <a:tc>
                  <a:txBody>
                    <a:bodyPr/>
                    <a:lstStyle/>
                    <a:p>
                      <a:pPr marL="0" lvl="0" indent="0">
                        <a:buNone/>
                      </a:pPr>
                      <a:r>
                        <a:t>update + plus group + imm_surv</a:t>
                      </a:r>
                    </a:p>
                  </a:txBody>
                  <a:tcPr/>
                </a:tc>
                <a:tc>
                  <a:txBody>
                    <a:bodyPr/>
                    <a:lstStyle/>
                    <a:p>
                      <a:pPr marL="0" lvl="0" indent="0">
                        <a:buNone/>
                      </a:pPr>
                      <a:r>
                        <a:rPr>
                          <a:latin typeface="Courier"/>
                        </a:rPr>
                        <a:t>25.1c</a:t>
                      </a:r>
                      <a:r>
                        <a:t> + immature index</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NMFS immature survey biomass index</a:t>
            </a:r>
          </a:p>
        </p:txBody>
      </p:sp>
      <p:sp>
        <p:nvSpPr>
          <p:cNvPr id="4" name="Text Placeholder 3"/>
          <p:cNvSpPr>
            <a:spLocks noGrp="1"/>
          </p:cNvSpPr>
          <p:nvPr>
            <p:ph type="body" sz="half" idx="2"/>
          </p:nvPr>
        </p:nvSpPr>
        <p:spPr/>
        <p:txBody>
          <a:bodyPr/>
          <a:lstStyle/>
          <a:p>
            <a:pPr lvl="0"/>
            <a:r>
              <a:rPr b="1"/>
              <a:t>Removes the bimodality</a:t>
            </a:r>
            <a:r>
              <a:t> observed in jitter analyses (see Results).</a:t>
            </a:r>
          </a:p>
          <a:p>
            <a:pPr lvl="0"/>
            <a:r>
              <a:t>Comes with a </a:t>
            </a:r>
            <a:r>
              <a:rPr b="1"/>
              <a:t>substantially higher estimate of mature male </a:t>
            </a:r>
            <a14:m xmlns:a14="http://schemas.microsoft.com/office/drawing/2010/main">
              <m:oMath xmlns:m="http://schemas.openxmlformats.org/officeDocument/2006/math">
                <m:r>
                  <a:rPr>
                    <a:latin typeface="Cambria Math" panose="02040503050406030204" pitchFamily="18" charset="0"/>
                  </a:rPr>
                  <m:t>𝑀</m:t>
                </m:r>
              </m:oMath>
            </a14:m>
            <a:r>
              <a:t> (&gt; 0.6) that propagates into reference points.</a:t>
            </a:r>
          </a:p>
          <a:p>
            <a:pPr lvl="0"/>
            <a:r>
              <a:t>Combination of immature index + hybrids was </a:t>
            </a:r>
            <a:r>
              <a:rPr b="1"/>
              <a:t>not explored</a:t>
            </a:r>
            <a:r>
              <a:t>.</a:t>
            </a:r>
          </a:p>
        </p:txBody>
      </p:sp>
      <p:pic>
        <p:nvPicPr>
          <p:cNvPr id="3" name="Picture 1" descr="Snow2026_may_CPT_files/figure-pptx/idx-imm-1.png"/>
          <p:cNvPicPr>
            <a:picLocks noGrp="1" noChangeAspect="1"/>
          </p:cNvPicPr>
          <p:nvPr/>
        </p:nvPicPr>
        <p:blipFill>
          <a:blip r:embed="rId2"/>
          <a:stretch>
            <a:fillRect/>
          </a:stretch>
        </p:blipFill>
        <p:spPr bwMode="auto">
          <a:xfrm>
            <a:off x="3568700" y="990600"/>
            <a:ext cx="5105400" cy="28067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3 – New maturity workflow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7399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25.2a</a:t>
                      </a:r>
                    </a:p>
                  </a:txBody>
                  <a:tcPr/>
                </a:tc>
                <a:tc>
                  <a:txBody>
                    <a:bodyPr/>
                    <a:lstStyle/>
                    <a:p>
                      <a:pPr marL="0" lvl="0" indent="0">
                        <a:buNone/>
                      </a:pPr>
                      <a:r>
                        <a:t>update + new_mat</a:t>
                      </a:r>
                    </a:p>
                  </a:txBody>
                  <a:tcPr/>
                </a:tc>
                <a:tc>
                  <a:txBody>
                    <a:bodyPr/>
                    <a:lstStyle/>
                    <a:p>
                      <a:pPr marL="0" lvl="0" indent="0">
                        <a:buNone/>
                      </a:pPr>
                      <a:r>
                        <a:rPr>
                          <a:latin typeface="Courier"/>
                        </a:rPr>
                        <a:t>25.1a</a:t>
                      </a:r>
                      <a:r>
                        <a:t> + new ogive</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25.2b</a:t>
                      </a:r>
                    </a:p>
                  </a:txBody>
                  <a:tcPr/>
                </a:tc>
                <a:tc>
                  <a:txBody>
                    <a:bodyPr/>
                    <a:lstStyle/>
                    <a:p>
                      <a:pPr marL="0" lvl="0" indent="0">
                        <a:buNone/>
                      </a:pPr>
                      <a:r>
                        <a:t>update + compfix + new_mat</a:t>
                      </a:r>
                    </a:p>
                  </a:txBody>
                  <a:tcPr/>
                </a:tc>
                <a:tc>
                  <a:txBody>
                    <a:bodyPr/>
                    <a:lstStyle/>
                    <a:p>
                      <a:pPr marL="0" lvl="0" indent="0">
                        <a:buNone/>
                      </a:pPr>
                      <a:r>
                        <a:rPr>
                          <a:latin typeface="Courier"/>
                        </a:rPr>
                        <a:t>25.1b</a:t>
                      </a:r>
                      <a:r>
                        <a:t> + new ogive</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25.2c</a:t>
                      </a:r>
                    </a:p>
                  </a:txBody>
                  <a:tcPr/>
                </a:tc>
                <a:tc>
                  <a:txBody>
                    <a:bodyPr/>
                    <a:lstStyle/>
                    <a:p>
                      <a:pPr marL="0" lvl="0" indent="0">
                        <a:buNone/>
                      </a:pPr>
                      <a:r>
                        <a:t>update + compfix + plus_group + new_mat</a:t>
                      </a:r>
                    </a:p>
                  </a:txBody>
                  <a:tcPr/>
                </a:tc>
                <a:tc>
                  <a:txBody>
                    <a:bodyPr/>
                    <a:lstStyle/>
                    <a:p>
                      <a:pPr marL="0" lvl="0" indent="0">
                        <a:buNone/>
                      </a:pPr>
                      <a:r>
                        <a:rPr>
                          <a:latin typeface="Courier"/>
                        </a:rPr>
                        <a:t>25.1c</a:t>
                      </a:r>
                      <a:r>
                        <a:t> + new ogive</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25.2d</a:t>
                      </a:r>
                    </a:p>
                  </a:txBody>
                  <a:tcPr/>
                </a:tc>
                <a:tc>
                  <a:txBody>
                    <a:bodyPr/>
                    <a:lstStyle/>
                    <a:p>
                      <a:pPr marL="0" lvl="0" indent="0">
                        <a:buNone/>
                      </a:pPr>
                      <a:r>
                        <a:t>update + compfix + plus_group + new_mat + imm_surv</a:t>
                      </a:r>
                    </a:p>
                  </a:txBody>
                  <a:tcPr/>
                </a:tc>
                <a:tc>
                  <a:txBody>
                    <a:bodyPr/>
                    <a:lstStyle/>
                    <a:p>
                      <a:pPr marL="0" lvl="0" indent="0">
                        <a:buNone/>
                      </a:pPr>
                      <a:r>
                        <a:rPr>
                          <a:latin typeface="Courier"/>
                        </a:rPr>
                        <a:t>25.1c</a:t>
                      </a:r>
                      <a:r>
                        <a:t> + new + immature survey</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New maturity workflow (Kodiak / Ryznar, in prep)</a:t>
            </a:r>
          </a:p>
        </p:txBody>
      </p:sp>
      <mc:AlternateContent xmlns:mc="http://schemas.openxmlformats.org/markup-compatibility/2006">
        <mc:Choice xmlns:a14="http://schemas.microsoft.com/office/drawing/2010/main" Requires="a14">
          <p:sp>
            <p:nvSpPr>
              <p:cNvPr id="4" name="Text Placeholder 3"/>
              <p:cNvSpPr>
                <a:spLocks noGrp="1"/>
              </p:cNvSpPr>
              <p:nvPr>
                <p:ph type="body" sz="half" idx="2"/>
              </p:nvPr>
            </p:nvSpPr>
            <p:spPr/>
            <p:txBody>
              <a:bodyPr>
                <a:normAutofit fontScale="92500" lnSpcReduction="20000"/>
              </a:bodyPr>
              <a:lstStyle/>
              <a:p>
                <a:pPr lvl="0"/>
                <a:r>
                  <a:rPr b="1">
                    <a:latin typeface="Courier"/>
                  </a:rPr>
                  <a:t>sdmTMB</a:t>
                </a:r>
                <a:r>
                  <a:rPr b="1"/>
                  <a:t> spatiotemporal model</a:t>
                </a:r>
                <a:r>
                  <a:t> fit to chela-based maturity classifications.</a:t>
                </a:r>
              </a:p>
              <a:p>
                <a:pPr lvl="0"/>
                <a:r>
                  <a:t>Borrows information across years and locations; </a:t>
                </a:r>
                <a:r>
                  <a:rPr b="1"/>
                  <a:t>does not extrapolate</a:t>
                </a:r>
                <a:r>
                  <a:t> beyond stations with measured crab.</a:t>
                </a:r>
              </a:p>
              <a:p>
                <a:pPr lvl="0"/>
                <a:r>
                  <a:t>Population-level annual ogive obtained by integrating the predicted surface across stations.</a:t>
                </a:r>
              </a:p>
              <a:p>
                <a:pPr lvl="0"/>
                <a:r>
                  <a:t>Replaces the legacy “fit a curve to chela ratios per year/size” approach.</a:t>
                </a:r>
              </a:p>
              <a:p>
                <a:pPr lvl="0"/>
                <a:r>
                  <a:t>Has a </a:t>
                </a:r>
                <a:r>
                  <a:rPr b="1"/>
                  <a:t>much weaker temporal trend</a:t>
                </a:r>
                <a:r>
                  <a:t> in </a:t>
                </a:r>
                <a14:m>
                  <m:oMath xmlns:m="http://schemas.openxmlformats.org/officeDocument/2006/math">
                    <m:r>
                      <m:rPr>
                        <m:sty m:val="p"/>
                      </m:rPr>
                      <a:rPr>
                        <a:latin typeface="Cambria Math" panose="02040503050406030204" pitchFamily="18" charset="0"/>
                      </a:rPr>
                      <m:t>Pr</m:t>
                    </m:r>
                  </m:oMath>
                </a14:m>
                <a:r>
                  <a:t>(terminal molt) at intermediate sizes than the legacy workflow.</a:t>
                </a:r>
              </a:p>
              <a:p>
                <a:pPr lvl="0"/>
                <a:r>
                  <a:t>Updates affect mature male survey abundance and male composition data; female time series unchanged.</a:t>
                </a:r>
              </a:p>
              <a:p>
                <a:pPr lvl="0"/>
                <a:r>
                  <a:t>Sample sizes and CVs of the dependent data </a:t>
                </a:r>
                <a:r>
                  <a:rPr b="1"/>
                  <a:t>were not adjusted</a:t>
                </a:r>
                <a:r>
                  <a:t> – a known limitation.</a:t>
                </a:r>
              </a:p>
            </p:txBody>
          </p:sp>
        </mc:Choice>
        <mc:Fallback>
          <p:sp>
            <p:nvSpPr>
              <p:cNvPr id="4" name="Text Placeholder 3"/>
              <p:cNvSpPr>
                <a:spLocks noGrp="1" noRot="1" noChangeAspect="1" noMove="1" noResize="1" noEditPoints="1" noAdjustHandles="1" noChangeArrowheads="1" noChangeShapeType="1" noTextEdit="1"/>
              </p:cNvSpPr>
              <p:nvPr>
                <p:ph type="body" sz="half" idx="2"/>
              </p:nvPr>
            </p:nvSpPr>
            <p:spPr>
              <a:blipFill>
                <a:blip r:embed="rId2"/>
                <a:stretch>
                  <a:fillRect t="-1327" b="-442"/>
                </a:stretch>
              </a:blipFill>
            </p:spPr>
            <p:txBody>
              <a:bodyPr/>
              <a:lstStyle/>
              <a:p>
                <a:r>
                  <a:rPr lang="en-US">
                    <a:noFill/>
                  </a:rPr>
                  <a:t> </a:t>
                </a:r>
              </a:p>
            </p:txBody>
          </p:sp>
        </mc:Fallback>
      </mc:AlternateContent>
      <p:pic>
        <p:nvPicPr>
          <p:cNvPr id="3" name="Picture 1" descr="Snow2026_may_CPT_files/figure-pptx/predmat-ogive-1.png"/>
          <p:cNvPicPr>
            <a:picLocks noGrp="1" noChangeAspect="1"/>
          </p:cNvPicPr>
          <p:nvPr/>
        </p:nvPicPr>
        <p:blipFill>
          <a:blip r:embed="rId3"/>
          <a:stretch>
            <a:fillRect/>
          </a:stretch>
        </p:blipFill>
        <p:spPr bwMode="auto">
          <a:xfrm>
            <a:off x="3568700" y="1282700"/>
            <a:ext cx="5105400" cy="2222500"/>
          </a:xfrm>
          <a:prstGeom prst="rect">
            <a:avLst/>
          </a:prstGeom>
          <a:noFill/>
          <a:ln w="9525">
            <a:noFill/>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now2026_may_CPT_files/figure-pptx/predmat-timeseries-1.png"/>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biomass index – mature crab (maturity effect)</a:t>
            </a:r>
          </a:p>
        </p:txBody>
      </p:sp>
      <p:pic>
        <p:nvPicPr>
          <p:cNvPr id="3" name="Picture 1" descr="Snow2026_may_CPT_files/figure-pptx/idx-mature-newmat-1.png"/>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now2026_may_CPT_files/figure-pptx/comp-survey-newmat-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Axis 4 – Hybrid treatment</a:t>
            </a:r>
          </a:p>
        </p:txBody>
      </p:sp>
      <p:graphicFrame>
        <p:nvGraphicFramePr>
          <p:cNvPr id="6" name="Content Placeholder 5"/>
          <p:cNvGraphicFramePr>
            <a:graphicFrameLocks noGrp="1"/>
          </p:cNvGraphicFramePr>
          <p:nvPr>
            <p:ph idx="1"/>
          </p:nvPr>
        </p:nvGraphicFramePr>
        <p:xfrm>
          <a:off x="457200" y="1193800"/>
          <a:ext cx="8216900" cy="2308860"/>
        </p:xfrm>
        <a:graphic>
          <a:graphicData uri="http://schemas.openxmlformats.org/drawingml/2006/table">
            <a:tbl>
              <a:tblPr firstRow="1" bandRow="1">
                <a:tableStyleId>{5C22544A-7EE6-4342-B048-85BDC9FD1C3A}</a:tableStyleId>
              </a:tblPr>
              <a:tblGrid>
                <a:gridCol w="17399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0">
                <a:tc>
                  <a:txBody>
                    <a:bodyPr/>
                    <a:lstStyle/>
                    <a:p>
                      <a:pPr marL="0" lvl="0" indent="0">
                        <a:buNone/>
                      </a:pPr>
                      <a:r>
                        <a:t>Model</a:t>
                      </a:r>
                    </a:p>
                  </a:txBody>
                  <a:tcPr/>
                </a:tc>
                <a:tc>
                  <a:txBody>
                    <a:bodyPr/>
                    <a:lstStyle/>
                    <a:p>
                      <a:pPr marL="0" lvl="0" indent="0">
                        <a:buNone/>
                      </a:pPr>
                      <a:r>
                        <a:t>Abr.</a:t>
                      </a:r>
                    </a:p>
                  </a:txBody>
                  <a:tcPr/>
                </a:tc>
                <a:tc>
                  <a:txBody>
                    <a:bodyPr/>
                    <a:lstStyle/>
                    <a:p>
                      <a:pPr marL="0" lvl="0" indent="0">
                        <a:buNone/>
                      </a:pPr>
                      <a:r>
                        <a:t>Description</a:t>
                      </a:r>
                    </a:p>
                  </a:txBody>
                  <a:tcPr/>
                </a:tc>
                <a:extLst>
                  <a:ext uri="{0D108BD9-81ED-4DB2-BD59-A6C34878D82A}">
                    <a16:rowId xmlns:a16="http://schemas.microsoft.com/office/drawing/2014/main" val="10000"/>
                  </a:ext>
                </a:extLst>
              </a:tr>
              <a:tr h="0">
                <a:tc>
                  <a:txBody>
                    <a:bodyPr/>
                    <a:lstStyle/>
                    <a:p>
                      <a:pPr marL="0" lvl="0" indent="0">
                        <a:buNone/>
                      </a:pPr>
                      <a:r>
                        <a:rPr>
                          <a:latin typeface="Courier"/>
                        </a:rPr>
                        <a:t>25.3a</a:t>
                      </a:r>
                    </a:p>
                  </a:txBody>
                  <a:tcPr/>
                </a:tc>
                <a:tc>
                  <a:txBody>
                    <a:bodyPr/>
                    <a:lstStyle/>
                    <a:p>
                      <a:pPr marL="0" lvl="0" indent="0">
                        <a:buNone/>
                      </a:pPr>
                      <a:r>
                        <a:t>update + compfix + plus_group + hyb_fishery</a:t>
                      </a:r>
                    </a:p>
                  </a:txBody>
                  <a:tcPr/>
                </a:tc>
                <a:tc>
                  <a:txBody>
                    <a:bodyPr/>
                    <a:lstStyle/>
                    <a:p>
                      <a:pPr marL="0" lvl="0" indent="0">
                        <a:buNone/>
                      </a:pPr>
                      <a:r>
                        <a:rPr>
                          <a:latin typeface="Courier"/>
                        </a:rPr>
                        <a:t>25.1c</a:t>
                      </a:r>
                      <a:r>
                        <a:t> + hybrids in directed-fishery comp + discards</a:t>
                      </a:r>
                    </a:p>
                  </a:txBody>
                  <a:tcPr/>
                </a:tc>
                <a:extLst>
                  <a:ext uri="{0D108BD9-81ED-4DB2-BD59-A6C34878D82A}">
                    <a16:rowId xmlns:a16="http://schemas.microsoft.com/office/drawing/2014/main" val="10001"/>
                  </a:ext>
                </a:extLst>
              </a:tr>
              <a:tr h="0">
                <a:tc>
                  <a:txBody>
                    <a:bodyPr/>
                    <a:lstStyle/>
                    <a:p>
                      <a:pPr marL="0" lvl="0" indent="0">
                        <a:buNone/>
                      </a:pPr>
                      <a:r>
                        <a:rPr>
                          <a:latin typeface="Courier"/>
                        </a:rPr>
                        <a:t>25.3b</a:t>
                      </a:r>
                    </a:p>
                  </a:txBody>
                  <a:tcPr/>
                </a:tc>
                <a:tc>
                  <a:txBody>
                    <a:bodyPr/>
                    <a:lstStyle/>
                    <a:p>
                      <a:pPr marL="0" lvl="0" indent="0">
                        <a:buNone/>
                      </a:pPr>
                      <a:r>
                        <a:t>update + compfix + plus_group + hyb_surv</a:t>
                      </a:r>
                    </a:p>
                  </a:txBody>
                  <a:tcPr/>
                </a:tc>
                <a:tc>
                  <a:txBody>
                    <a:bodyPr/>
                    <a:lstStyle/>
                    <a:p>
                      <a:pPr marL="0" lvl="0" indent="0">
                        <a:buNone/>
                      </a:pPr>
                      <a:r>
                        <a:rPr>
                          <a:latin typeface="Courier"/>
                        </a:rPr>
                        <a:t>25.1c</a:t>
                      </a:r>
                      <a:r>
                        <a:t> + hybrids in NMFS summer survey biomass + comp</a:t>
                      </a:r>
                    </a:p>
                  </a:txBody>
                  <a:tcPr/>
                </a:tc>
                <a:extLst>
                  <a:ext uri="{0D108BD9-81ED-4DB2-BD59-A6C34878D82A}">
                    <a16:rowId xmlns:a16="http://schemas.microsoft.com/office/drawing/2014/main" val="10002"/>
                  </a:ext>
                </a:extLst>
              </a:tr>
              <a:tr h="0">
                <a:tc>
                  <a:txBody>
                    <a:bodyPr/>
                    <a:lstStyle/>
                    <a:p>
                      <a:pPr marL="0" lvl="0" indent="0">
                        <a:buNone/>
                      </a:pPr>
                      <a:r>
                        <a:rPr>
                          <a:latin typeface="Courier"/>
                        </a:rPr>
                        <a:t>25.3c</a:t>
                      </a:r>
                    </a:p>
                  </a:txBody>
                  <a:tcPr/>
                </a:tc>
                <a:tc>
                  <a:txBody>
                    <a:bodyPr/>
                    <a:lstStyle/>
                    <a:p>
                      <a:pPr marL="0" lvl="0" indent="0">
                        <a:buNone/>
                      </a:pPr>
                      <a:r>
                        <a:t>update + compfix + plus_group + hyb_both</a:t>
                      </a:r>
                    </a:p>
                  </a:txBody>
                  <a:tcPr/>
                </a:tc>
                <a:tc>
                  <a:txBody>
                    <a:bodyPr/>
                    <a:lstStyle/>
                    <a:p>
                      <a:pPr marL="0" lvl="0" indent="0">
                        <a:buNone/>
                      </a:pPr>
                      <a:r>
                        <a:rPr>
                          <a:latin typeface="Courier"/>
                        </a:rPr>
                        <a:t>25.1c</a:t>
                      </a:r>
                      <a:r>
                        <a:t> + hybrids in both survey and fishery</a:t>
                      </a:r>
                    </a:p>
                  </a:txBody>
                  <a:tcPr/>
                </a:tc>
                <a:extLst>
                  <a:ext uri="{0D108BD9-81ED-4DB2-BD59-A6C34878D82A}">
                    <a16:rowId xmlns:a16="http://schemas.microsoft.com/office/drawing/2014/main" val="10003"/>
                  </a:ext>
                </a:extLst>
              </a:tr>
              <a:tr h="0">
                <a:tc>
                  <a:txBody>
                    <a:bodyPr/>
                    <a:lstStyle/>
                    <a:p>
                      <a:pPr marL="0" lvl="0" indent="0">
                        <a:buNone/>
                      </a:pPr>
                      <a:r>
                        <a:rPr>
                          <a:latin typeface="Courier"/>
                        </a:rPr>
                        <a:t>25.3d</a:t>
                      </a:r>
                    </a:p>
                  </a:txBody>
                  <a:tcPr/>
                </a:tc>
                <a:tc>
                  <a:txBody>
                    <a:bodyPr/>
                    <a:lstStyle/>
                    <a:p>
                      <a:pPr marL="0" lvl="0" indent="0">
                        <a:buNone/>
                      </a:pPr>
                      <a:r>
                        <a:t>update + compfix + plus_group + hyb_both + new_mat</a:t>
                      </a:r>
                    </a:p>
                  </a:txBody>
                  <a:tcPr/>
                </a:tc>
                <a:tc>
                  <a:txBody>
                    <a:bodyPr/>
                    <a:lstStyle/>
                    <a:p>
                      <a:pPr marL="0" lvl="0" indent="0">
                        <a:buNone/>
                      </a:pPr>
                      <a:r>
                        <a:rPr>
                          <a:latin typeface="Courier"/>
                        </a:rPr>
                        <a:t>25.3c</a:t>
                      </a:r>
                      <a:r>
                        <a:t> + new maturity workflow</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Hybrid data: directed-fishery discards</a:t>
            </a:r>
          </a:p>
        </p:txBody>
      </p:sp>
      <p:sp>
        <p:nvSpPr>
          <p:cNvPr id="3" name="Content Placeholder 2"/>
          <p:cNvSpPr>
            <a:spLocks noGrp="1"/>
          </p:cNvSpPr>
          <p:nvPr>
            <p:ph idx="1"/>
          </p:nvPr>
        </p:nvSpPr>
        <p:spPr/>
        <p:txBody>
          <a:bodyPr/>
          <a:lstStyle/>
          <a:p>
            <a:pPr lvl="0"/>
            <a:r>
              <a:t>ADF&amp;G provided hybrid data as a </a:t>
            </a:r>
            <a:r>
              <a:rPr b="1"/>
              <a:t>separate species code</a:t>
            </a:r>
            <a:r>
              <a:t> (lumped opilio-, bairdi-, and unspecified-type).</a:t>
            </a:r>
          </a:p>
          <a:p>
            <a:pPr lvl="0"/>
            <a:r>
              <a:t>Hybrid weights computed using </a:t>
            </a:r>
            <a:r>
              <a:rPr b="1"/>
              <a:t>snow crab L–W parameters</a:t>
            </a:r>
            <a:r>
              <a:t> (most hybrids are opilio-type).</a:t>
            </a:r>
          </a:p>
          <a:p>
            <a:pPr lvl="0"/>
            <a:r>
              <a:t>Hybrid data are </a:t>
            </a:r>
            <a:r>
              <a:rPr b="1"/>
              <a:t>additive</a:t>
            </a:r>
            <a:r>
              <a:t> to existing snow-crab time series</a:t>
            </a:r>
          </a:p>
          <a:p>
            <a:pPr lvl="0"/>
            <a:r>
              <a:t>CV on directed discards held at 0.7. Observer non-directed bycatch unchanged.</a:t>
            </a:r>
          </a:p>
          <a:p>
            <a:pPr lvl="0"/>
            <a:r>
              <a:t>Retained hybrids cannot be separated from retained snow crab (hybrids already retained under snow IFQ; cannot be separated).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92500"/>
          </a:bodyPr>
          <a:lstStyle/>
          <a:p>
            <a:pPr lvl="0"/>
            <a:r>
              <a:t>Adding hybrids to the directed pot fishery </a:t>
            </a:r>
            <a:r>
              <a:rPr b="1"/>
              <a:t>increases discards</a:t>
            </a:r>
            <a:r>
              <a:t> in some years – e.g. legal-male hybrid catch ~18 kt in 1997 and ~15 kt in 1998 (flagged by ADF&amp;G as needing QC).</a:t>
            </a:r>
          </a:p>
          <a:p>
            <a:pPr lvl="0"/>
            <a:r>
              <a:t>Models accommodate the added discards primarily through changes in </a:t>
            </a:r>
            <a:r>
              <a:rPr b="1"/>
              <a:t>estimated discard fishing mortality</a:t>
            </a:r>
            <a:r>
              <a:t>, not selectivity.</a:t>
            </a:r>
          </a:p>
        </p:txBody>
      </p:sp>
      <p:pic>
        <p:nvPicPr>
          <p:cNvPr id="2" name="Picture 1" descr="Snow2026_may_CPT_files/figure-pptx/selex-pot-hybfishery-1.png"/>
          <p:cNvPicPr>
            <a:picLocks noGrp="1" noChangeAspect="1"/>
          </p:cNvPicPr>
          <p:nvPr/>
        </p:nvPicPr>
        <p:blipFill>
          <a:blip r:embed="rId2"/>
          <a:stretch>
            <a:fillRect/>
          </a:stretch>
        </p:blipFill>
        <p:spPr bwMode="auto">
          <a:xfrm>
            <a:off x="5003800" y="1193800"/>
            <a:ext cx="3327400" cy="3390900"/>
          </a:xfrm>
          <a:prstGeom prst="rect">
            <a:avLst/>
          </a:prstGeom>
          <a:noFill/>
          <a:ln w="9525">
            <a:noFill/>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Catch data – retained, discards, bycatch</a:t>
            </a:r>
          </a:p>
        </p:txBody>
      </p:sp>
      <p:pic>
        <p:nvPicPr>
          <p:cNvPr id="3" name="Picture 1" descr="Snow2026_may_CPT_files/figure-pptx/catch-compare-1.png"/>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Pot fishery composition – hybrid effect</a:t>
            </a:r>
          </a:p>
        </p:txBody>
      </p:sp>
      <p:pic>
        <p:nvPicPr>
          <p:cNvPr id="3" name="Picture 1" descr="Snow2026_may_CPT_files/figure-pptx/comp-pot-hyb-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Pot fishery female discard composition</a:t>
            </a:r>
          </a:p>
        </p:txBody>
      </p:sp>
      <p:pic>
        <p:nvPicPr>
          <p:cNvPr id="3" name="Picture 1" descr="Snow2026_may_CPT_files/figure-pptx/comp-pot-fem-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Hybrid data: NMFS summer trawl survey</a:t>
            </a:r>
          </a:p>
        </p:txBody>
      </p:sp>
      <p:sp>
        <p:nvSpPr>
          <p:cNvPr id="4" name="Text Placeholder 3"/>
          <p:cNvSpPr>
            <a:spLocks noGrp="1"/>
          </p:cNvSpPr>
          <p:nvPr>
            <p:ph type="body" sz="half" idx="2"/>
          </p:nvPr>
        </p:nvSpPr>
        <p:spPr/>
        <p:txBody>
          <a:bodyPr/>
          <a:lstStyle/>
          <a:p>
            <a:pPr lvl="0"/>
            <a:r>
              <a:t>Hybrid catch and composition data added to the NMFS summer trawl time-series for </a:t>
            </a:r>
            <a:r>
              <a:rPr>
                <a:latin typeface="Courier"/>
              </a:rPr>
              <a:t>Models 25.3b</a:t>
            </a:r>
            <a:r>
              <a:t>, </a:t>
            </a:r>
            <a:r>
              <a:rPr>
                <a:latin typeface="Courier"/>
              </a:rPr>
              <a:t>25.3c</a:t>
            </a:r>
            <a:r>
              <a:t>, </a:t>
            </a:r>
            <a:r>
              <a:rPr>
                <a:latin typeface="Courier"/>
              </a:rPr>
              <a:t>25.3d</a:t>
            </a:r>
            <a:r>
              <a:t>.</a:t>
            </a:r>
          </a:p>
          <a:p>
            <a:pPr lvl="0"/>
            <a:r>
              <a:t>Visibly </a:t>
            </a:r>
            <a:r>
              <a:rPr b="1"/>
              <a:t>higher predicted survey biomass</a:t>
            </a:r>
            <a:r>
              <a:t> in some years; trend through time is unchanged.</a:t>
            </a:r>
          </a:p>
          <a:p>
            <a:pPr lvl="0"/>
            <a:r>
              <a:t>Hybrid identification quality </a:t>
            </a:r>
            <a:r>
              <a:rPr b="1"/>
              <a:t>decreases further back</a:t>
            </a:r>
            <a:r>
              <a:t> in the time series (consistency between ADF&amp;G and NMFS criteria is currently an issue).</a:t>
            </a:r>
          </a:p>
        </p:txBody>
      </p:sp>
      <p:pic>
        <p:nvPicPr>
          <p:cNvPr id="3" name="Picture 1" descr="Snow2026_may_CPT_files/figure-pptx/selex-trawl-hybsurv-1.png"/>
          <p:cNvPicPr>
            <a:picLocks noGrp="1" noChangeAspect="1"/>
          </p:cNvPicPr>
          <p:nvPr/>
        </p:nvPicPr>
        <p:blipFill>
          <a:blip r:embed="rId2"/>
          <a:stretch>
            <a:fillRect/>
          </a:stretch>
        </p:blipFill>
        <p:spPr bwMode="auto">
          <a:xfrm>
            <a:off x="3568700" y="1270000"/>
            <a:ext cx="5105400" cy="2247900"/>
          </a:xfrm>
          <a:prstGeom prst="rect">
            <a:avLst/>
          </a:prstGeom>
          <a:noFill/>
          <a:ln w="9525">
            <a:noFill/>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biomass index – mature crab (hybrid effect)</a:t>
            </a:r>
          </a:p>
        </p:txBody>
      </p:sp>
      <p:pic>
        <p:nvPicPr>
          <p:cNvPr id="3" name="Picture 1" descr="Snow2026_may_CPT_files/figure-pptx/idx-mature-hyb-1.png"/>
          <p:cNvPicPr>
            <a:picLocks noGrp="1" noChangeAspect="1"/>
          </p:cNvPicPr>
          <p:nvPr/>
        </p:nvPicPr>
        <p:blipFill>
          <a:blip r:embed="rId2"/>
          <a:stretch>
            <a:fillRect/>
          </a:stretch>
        </p:blipFill>
        <p:spPr bwMode="auto">
          <a:xfrm>
            <a:off x="473529" y="1193800"/>
            <a:ext cx="7489371" cy="3744686"/>
          </a:xfrm>
          <a:prstGeom prst="rect">
            <a:avLst/>
          </a:prstGeom>
          <a:noFill/>
          <a:ln w="9525">
            <a:noFill/>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NMFS survey composition – mature males (hybrid effect)</a:t>
            </a:r>
          </a:p>
        </p:txBody>
      </p:sp>
      <p:pic>
        <p:nvPicPr>
          <p:cNvPr id="3" name="Picture 1" descr="Snow2026_may_CPT_files/figure-pptx/comp-survey-hyb-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Convergence and jitter analysis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Convergence 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pPr lvl="0"/>
                <a:r>
                  <a:t>All 14 models </a:t>
                </a:r>
                <a:r>
                  <a:rPr b="1"/>
                  <a:t>inverted their Hessians</a:t>
                </a:r>
                <a:r>
                  <a:t>.</a:t>
                </a:r>
              </a:p>
              <a:p>
                <a:pPr lvl="0"/>
                <a:r>
                  <a:rPr b="1"/>
                  <a:t>Only </a:t>
                </a:r>
                <a:r>
                  <a:rPr b="1">
                    <a:latin typeface="Courier"/>
                  </a:rPr>
                  <a:t>Model 25.1d</a:t>
                </a:r>
                <a:r>
                  <a:t> had a max |gradient| &lt; 0.001.</a:t>
                </a:r>
              </a:p>
              <a:p>
                <a:pPr lvl="0"/>
                <a:r>
                  <a:t>Remaining 13 models had max |gradient| &gt; 0.001; </a:t>
                </a:r>
                <a:r>
                  <a:rPr>
                    <a:latin typeface="Courier"/>
                  </a:rPr>
                  <a:t>Model 25.3c</a:t>
                </a:r>
                <a:r>
                  <a:t> largest at ~0.10.</a:t>
                </a:r>
              </a:p>
              <a:p>
                <a:pPr lvl="0"/>
                <a:r>
                  <a:rPr b="1"/>
                  <a:t>No consistent parameter</a:t>
                </a:r>
                <a:r>
                  <a:t> had the highest gradient across models.</a:t>
                </a:r>
              </a:p>
              <a:p>
                <a:pPr lvl="0"/>
                <a:r>
                  <a:t>Likelihood components by category summarized in Tables 2–4 of the document.</a:t>
                </a:r>
              </a:p>
              <a:p>
                <a:pPr marL="0" lvl="0" indent="0">
                  <a:buNone/>
                </a:pPr>
                <a:r>
                  <a:rPr b="1"/>
                  <a:t>Recommendation:</a:t>
                </a:r>
                <a:r>
                  <a:t> simplify the model where possible (male-only, fix </a:t>
                </a:r>
                <a14:m>
                  <m:oMath xmlns:m="http://schemas.openxmlformats.org/officeDocument/2006/math">
                    <m:r>
                      <a:rPr>
                        <a:latin typeface="Cambria Math" panose="02040503050406030204" pitchFamily="18" charset="0"/>
                      </a:rPr>
                      <m:t>𝑀</m:t>
                    </m:r>
                  </m:oMath>
                </a14:m>
                <a:r>
                  <a:t> at the prior mean, simpler survey selectivity) and seek CPT/SSC guidance on what to drop.</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35" r="-643" b="-1556"/>
                </a:stretch>
              </a:blipFill>
            </p:spPr>
            <p:txBody>
              <a:bodyPr/>
              <a:lstStyle/>
              <a:p>
                <a:r>
                  <a:rPr 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100 starts on six models</a:t>
            </a:r>
          </a:p>
        </p:txBody>
      </p:sp>
      <p:sp>
        <p:nvSpPr>
          <p:cNvPr id="4" name="Text Placeholder 3"/>
          <p:cNvSpPr>
            <a:spLocks noGrp="1"/>
          </p:cNvSpPr>
          <p:nvPr>
            <p:ph type="body" sz="half" idx="2"/>
          </p:nvPr>
        </p:nvSpPr>
        <p:spPr/>
        <p:txBody>
          <a:bodyPr/>
          <a:lstStyle/>
          <a:p>
            <a:pPr lvl="0"/>
            <a:r>
              <a:t>Models jittered: </a:t>
            </a:r>
            <a:r>
              <a:rPr>
                <a:latin typeface="Courier"/>
              </a:rPr>
              <a:t>25.1c</a:t>
            </a:r>
            <a:r>
              <a:t>, </a:t>
            </a:r>
            <a:r>
              <a:rPr>
                <a:latin typeface="Courier"/>
              </a:rPr>
              <a:t>25.1e</a:t>
            </a:r>
            <a:r>
              <a:t>, </a:t>
            </a:r>
            <a:r>
              <a:rPr>
                <a:latin typeface="Courier"/>
              </a:rPr>
              <a:t>25.2c</a:t>
            </a:r>
            <a:r>
              <a:t>, </a:t>
            </a:r>
            <a:r>
              <a:rPr>
                <a:latin typeface="Courier"/>
              </a:rPr>
              <a:t>25.2d</a:t>
            </a:r>
            <a:r>
              <a:t>, </a:t>
            </a:r>
            <a:r>
              <a:rPr>
                <a:latin typeface="Courier"/>
              </a:rPr>
              <a:t>25.3c</a:t>
            </a:r>
            <a:r>
              <a:t>, </a:t>
            </a:r>
            <a:r>
              <a:rPr>
                <a:latin typeface="Courier"/>
              </a:rPr>
              <a:t>25.3d</a:t>
            </a:r>
            <a:r>
              <a:t> (covering all four axes).</a:t>
            </a:r>
          </a:p>
          <a:p>
            <a:pPr lvl="0"/>
            <a:r>
              <a:t>Parameter values jittered as </a:t>
            </a:r>
            <a14:m xmlns:a14="http://schemas.microsoft.com/office/drawing/2010/main">
              <m:oMath xmlns:m="http://schemas.openxmlformats.org/officeDocument/2006/math">
                <m:r>
                  <a:rPr>
                    <a:latin typeface="Cambria Math" panose="02040503050406030204" pitchFamily="18" charset="0"/>
                  </a:rPr>
                  <m:t>𝑁</m:t>
                </m:r>
                <m:d>
                  <m:dPr>
                    <m:ctrlPr>
                      <a:rPr i="1">
                        <a:latin typeface="Cambria Math" panose="02040503050406030204" pitchFamily="18" charset="0"/>
                      </a:rPr>
                    </m:ctrlPr>
                  </m:dPr>
                  <m:e>
                    <m:r>
                      <a:rPr>
                        <a:latin typeface="Cambria Math" panose="02040503050406030204" pitchFamily="18" charset="0"/>
                      </a:rPr>
                      <m:t>1,0.1</m:t>
                    </m:r>
                  </m:e>
                </m:d>
              </m:oMath>
            </a14:m>
            <a:r>
              <a:t> scaled to parameter bounds.</a:t>
            </a:r>
          </a:p>
          <a:p>
            <a:pPr lvl="0"/>
            <a:r>
              <a:rPr b="1"/>
              <a:t>Bimodality in OFL persists</a:t>
            </a:r>
            <a:r>
              <a:t> in most 2026 candidates – ranges separated by &lt; 10 NLL units, OFLs differing by several thousand tonnes.</a:t>
            </a:r>
          </a:p>
        </p:txBody>
      </p:sp>
      <p:pic>
        <p:nvPicPr>
          <p:cNvPr id="3" name="Picture 1" descr="plots/jittered_results_ofl.png"/>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2024 male recruitment</a:t>
            </a:r>
          </a:p>
        </p:txBody>
      </p:sp>
      <p:pic>
        <p:nvPicPr>
          <p:cNvPr id="3" name="Picture 1" descr="plots/jittered_results_rec.png"/>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Jitter analysis – 2024 MMB</a:t>
            </a:r>
          </a:p>
        </p:txBody>
      </p:sp>
      <p:pic>
        <p:nvPicPr>
          <p:cNvPr id="3" name="Picture 1" descr="plots/jittered_results_ssb.png"/>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Interpreting the jitter results</a:t>
            </a:r>
          </a:p>
        </p:txBody>
      </p:sp>
      <p:sp>
        <p:nvSpPr>
          <p:cNvPr id="3" name="Content Placeholder 2"/>
          <p:cNvSpPr>
            <a:spLocks noGrp="1"/>
          </p:cNvSpPr>
          <p:nvPr>
            <p:ph idx="1"/>
          </p:nvPr>
        </p:nvSpPr>
        <p:spPr/>
        <p:txBody>
          <a:bodyPr>
            <a:normAutofit fontScale="92500" lnSpcReduction="20000"/>
          </a:bodyPr>
          <a:lstStyle/>
          <a:p>
            <a:pPr lvl="0"/>
            <a:r>
              <a:rPr b="1" dirty="0"/>
              <a:t>Adding the immature index alongside the updated plus group eliminates the bimodality</a:t>
            </a:r>
            <a:r>
              <a:rPr dirty="0"/>
              <a:t> in OFL (</a:t>
            </a:r>
            <a:r>
              <a:rPr dirty="0">
                <a:latin typeface="Courier"/>
              </a:rPr>
              <a:t>Model 25.1e</a:t>
            </a:r>
            <a:r>
              <a:rPr dirty="0"/>
              <a:t>, </a:t>
            </a:r>
            <a:r>
              <a:rPr dirty="0">
                <a:latin typeface="Courier"/>
              </a:rPr>
              <a:t>Model 25.2d</a:t>
            </a:r>
            <a:r>
              <a:rPr dirty="0"/>
              <a:t>).</a:t>
            </a:r>
          </a:p>
          <a:p>
            <a:pPr lvl="0"/>
            <a:r>
              <a:rPr dirty="0"/>
              <a:t>A clear spread in derived quantities still exists within 10 NLL units, so </a:t>
            </a:r>
            <a:r>
              <a:rPr b="1" dirty="0"/>
              <a:t>don’t read this as an unqualified improvement</a:t>
            </a:r>
            <a:r>
              <a:rPr dirty="0"/>
              <a:t>.</a:t>
            </a:r>
          </a:p>
          <a:p>
            <a:pPr lvl="0"/>
            <a:r>
              <a:rPr dirty="0"/>
              <a:t>Mature male M is &gt; 0.6 for these models</a:t>
            </a:r>
          </a:p>
          <a:p>
            <a:pPr lvl="0"/>
            <a:r>
              <a:rPr dirty="0"/>
              <a:t>Bimodality has been a recurring issue in this assessment for several cycles.</a:t>
            </a:r>
          </a:p>
          <a:p>
            <a:pPr lvl="0"/>
            <a:r>
              <a:rPr dirty="0"/>
              <a:t>Resolving the underlying source of multiple optima will require </a:t>
            </a:r>
            <a:r>
              <a:rPr b="1" dirty="0"/>
              <a:t>further investigation</a:t>
            </a:r>
            <a:r>
              <a:rPr dirty="0"/>
              <a:t> before September:</a:t>
            </a:r>
          </a:p>
          <a:p>
            <a:pPr lvl="1"/>
            <a:r>
              <a:rPr dirty="0"/>
              <a:t>Which parameter combinations produce the two clouds?</a:t>
            </a:r>
          </a:p>
          <a:p>
            <a:pPr lvl="1"/>
            <a:r>
              <a:rPr dirty="0"/>
              <a:t>Recent recruitment? Mortality events? Selectivity?</a:t>
            </a:r>
          </a:p>
          <a:p>
            <a:pPr lvl="1"/>
            <a:r>
              <a:rPr dirty="0"/>
              <a:t>Should we include the immature index?</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Fits to mature survey biomass</a:t>
            </a:r>
          </a:p>
        </p:txBody>
      </p:sp>
      <p:sp>
        <p:nvSpPr>
          <p:cNvPr id="3" name="Content Placeholder 2"/>
          <p:cNvSpPr>
            <a:spLocks noGrp="1"/>
          </p:cNvSpPr>
          <p:nvPr>
            <p:ph idx="1"/>
          </p:nvPr>
        </p:nvSpPr>
        <p:spPr/>
        <p:txBody>
          <a:bodyPr/>
          <a:lstStyle/>
          <a:p>
            <a:pPr lvl="0"/>
            <a:r>
              <a:t>Fits to mature biomass survey indices broadly similar across models.</a:t>
            </a:r>
          </a:p>
          <a:p>
            <a:pPr lvl="0"/>
            <a:r>
              <a:rPr b="1"/>
              <a:t>All data-update candidates have difficulty fitting the terminal-year female biomass.</a:t>
            </a:r>
            <a:r>
              <a:t> New maturity workflow shifts dynamics modestly but does not resolve this.</a:t>
            </a:r>
          </a:p>
          <a:p>
            <a:pPr lvl="0"/>
            <a:r>
              <a:t>Models with the immature survey index fit the new immature index well in recent years – </a:t>
            </a:r>
            <a:r>
              <a:rPr i="1"/>
              <a:t>except</a:t>
            </a:r>
            <a:r>
              <a:t> when paired with the new maturity ogive.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 – mature biomass survey index</a:t>
            </a:r>
          </a:p>
        </p:txBody>
      </p:sp>
      <p:pic>
        <p:nvPicPr>
          <p:cNvPr id="3" name="Picture 1" descr="Snow2026_may_CPT_files/figure-pptx/mmbfits-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Model fits – immature biomass survey index</a:t>
            </a:r>
          </a:p>
        </p:txBody>
      </p:sp>
      <p:pic>
        <p:nvPicPr>
          <p:cNvPr id="3" name="Picture 1" descr="Snow2026_may_CPT_files/figure-pptx/immfits-1.png"/>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Fits to size composition data – key impressions</a:t>
            </a:r>
          </a:p>
        </p:txBody>
      </p:sp>
      <p:sp>
        <p:nvSpPr>
          <p:cNvPr id="4" name="Text Placeholder 3"/>
          <p:cNvSpPr>
            <a:spLocks noGrp="1"/>
          </p:cNvSpPr>
          <p:nvPr>
            <p:ph type="body" sz="half" idx="2"/>
          </p:nvPr>
        </p:nvSpPr>
        <p:spPr/>
        <p:txBody>
          <a:bodyPr>
            <a:normAutofit fontScale="77500" lnSpcReduction="20000"/>
          </a:bodyPr>
          <a:lstStyle/>
          <a:p>
            <a:pPr lvl="0"/>
            <a:r>
              <a:rPr b="1"/>
              <a:t>Retained males:</a:t>
            </a:r>
            <a:r>
              <a:t> small differences across models. Plus-group change makes a small visual difference at the largest sizes.</a:t>
            </a:r>
          </a:p>
          <a:p>
            <a:pPr lvl="0"/>
            <a:r>
              <a:rPr b="1"/>
              <a:t>Total males:</a:t>
            </a:r>
            <a:r>
              <a:t> noticeable differences between standard and hybrid-fishery models, particularly in the larger size bins where hybrids are most prevalent.</a:t>
            </a:r>
          </a:p>
          <a:p>
            <a:pPr lvl="0"/>
            <a:r>
              <a:rPr b="1"/>
              <a:t>Female discards (directed fishery):</a:t>
            </a:r>
            <a:r>
              <a:t> no visually discernible differences across models.</a:t>
            </a:r>
          </a:p>
          <a:p>
            <a:pPr lvl="0"/>
            <a:r>
              <a:rPr b="1"/>
              <a:t>Non-directed fishery:</a:t>
            </a:r>
            <a:r>
              <a:t> some of the largest misfits (single estimated selectivity, time-varying fishery behavior). Sample sizes assumed = 100 except 2021 and 2024 (=10).</a:t>
            </a:r>
          </a:p>
          <a:p>
            <a:pPr lvl="0"/>
            <a:r>
              <a:rPr b="1"/>
              <a:t>Survey size composition:</a:t>
            </a:r>
            <a:r>
              <a:t> broadly similar fits across models. Persistent misfits for </a:t>
            </a:r>
            <a:r>
              <a:rPr b="1"/>
              <a:t>immature females in 2009 and 2019</a:t>
            </a:r>
            <a:r>
              <a:t> – could reflect unmodeled size-based mortality or time-varying probability of terminal molt.</a:t>
            </a:r>
          </a:p>
          <a:p>
            <a:pPr marL="0" lvl="0" indent="0">
              <a:spcBef>
                <a:spcPts val="3000"/>
              </a:spcBef>
              <a:buNone/>
            </a:pPr>
            <a:r>
              <a:rPr b="1"/>
              <a:t>Retained-male comp fits, across </a:t>
            </a:r>
            <a:r>
              <a:rPr b="1">
                <a:latin typeface="Courier"/>
              </a:rPr>
              <a:t>compfix</a:t>
            </a:r>
            <a:r>
              <a:rPr b="1"/>
              <a:t> models</a:t>
            </a:r>
          </a:p>
        </p:txBody>
      </p:sp>
      <p:pic>
        <p:nvPicPr>
          <p:cNvPr id="3" name="Picture 1" descr="plots/size_comp_plot_43_Pot_fishery_compfix_male_retained_undetermined_Old%20maturity.png"/>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FAF0-C407-13DD-4693-B1C4454BFD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9FA7B5-6C81-AE7F-F8FE-C5375D4A92F2}"/>
              </a:ext>
            </a:extLst>
          </p:cNvPr>
          <p:cNvSpPr>
            <a:spLocks noGrp="1"/>
          </p:cNvSpPr>
          <p:nvPr>
            <p:ph type="title"/>
          </p:nvPr>
        </p:nvSpPr>
        <p:spPr/>
        <p:txBody>
          <a:bodyPr>
            <a:normAutofit/>
          </a:bodyPr>
          <a:lstStyle/>
          <a:p>
            <a:r>
              <a:rPr lang="en-US" sz="2400" dirty="0"/>
              <a:t>Total-male comp fits, hybrid vs. non-hybrid</a:t>
            </a:r>
          </a:p>
        </p:txBody>
      </p:sp>
      <p:pic>
        <p:nvPicPr>
          <p:cNvPr id="16" name="Content Placeholder 15">
            <a:extLst>
              <a:ext uri="{FF2B5EF4-FFF2-40B4-BE49-F238E27FC236}">
                <a16:creationId xmlns:a16="http://schemas.microsoft.com/office/drawing/2014/main" id="{06A17B80-B5BF-6B86-9779-2FF0EB5884BE}"/>
              </a:ext>
            </a:extLst>
          </p:cNvPr>
          <p:cNvPicPr>
            <a:picLocks noGrp="1" noChangeAspect="1"/>
          </p:cNvPicPr>
          <p:nvPr>
            <p:ph sz="half" idx="1"/>
          </p:nvPr>
        </p:nvPicPr>
        <p:blipFill>
          <a:blip r:embed="rId2"/>
          <a:stretch>
            <a:fillRect/>
          </a:stretch>
        </p:blipFill>
        <p:spPr>
          <a:xfrm>
            <a:off x="939800" y="1368425"/>
            <a:ext cx="3263900" cy="3263900"/>
          </a:xfrm>
          <a:prstGeom prst="rect">
            <a:avLst/>
          </a:prstGeom>
        </p:spPr>
      </p:pic>
      <p:pic>
        <p:nvPicPr>
          <p:cNvPr id="14" name="Content Placeholder 10">
            <a:extLst>
              <a:ext uri="{FF2B5EF4-FFF2-40B4-BE49-F238E27FC236}">
                <a16:creationId xmlns:a16="http://schemas.microsoft.com/office/drawing/2014/main" id="{9FBDCB86-F658-92FF-12C7-9604833C89DA}"/>
              </a:ext>
            </a:extLst>
          </p:cNvPr>
          <p:cNvPicPr>
            <a:picLocks noGrp="1" noChangeAspect="1"/>
          </p:cNvPicPr>
          <p:nvPr>
            <p:ph sz="half" idx="2"/>
          </p:nvPr>
        </p:nvPicPr>
        <p:blipFill>
          <a:blip r:embed="rId3"/>
          <a:stretch>
            <a:fillRect/>
          </a:stretch>
        </p:blipFill>
        <p:spPr>
          <a:xfrm>
            <a:off x="4940300" y="1368425"/>
            <a:ext cx="3263900" cy="3263900"/>
          </a:xfrm>
          <a:prstGeom prst="rect">
            <a:avLst/>
          </a:prstGeom>
        </p:spPr>
      </p:pic>
    </p:spTree>
    <p:extLst>
      <p:ext uri="{BB962C8B-B14F-4D97-AF65-F5344CB8AC3E}">
        <p14:creationId xmlns:p14="http://schemas.microsoft.com/office/powerpoint/2010/main" val="2042011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CA7246-8EA6-7C9D-173F-AC14EBEDF501}"/>
              </a:ext>
            </a:extLst>
          </p:cNvPr>
          <p:cNvSpPr>
            <a:spLocks noGrp="1"/>
          </p:cNvSpPr>
          <p:nvPr>
            <p:ph type="title"/>
          </p:nvPr>
        </p:nvSpPr>
        <p:spPr/>
        <p:txBody>
          <a:bodyPr>
            <a:normAutofit/>
          </a:bodyPr>
          <a:lstStyle/>
          <a:p>
            <a:r>
              <a:rPr lang="en-US" sz="2400" b="1" dirty="0"/>
              <a:t>NMFS-immature female comp fits, old vs. new-maturity</a:t>
            </a:r>
            <a:endParaRPr lang="en-US" sz="2400" dirty="0"/>
          </a:p>
        </p:txBody>
      </p:sp>
      <p:pic>
        <p:nvPicPr>
          <p:cNvPr id="22" name="Content Placeholder 21">
            <a:extLst>
              <a:ext uri="{FF2B5EF4-FFF2-40B4-BE49-F238E27FC236}">
                <a16:creationId xmlns:a16="http://schemas.microsoft.com/office/drawing/2014/main" id="{8BE028AE-CF57-8064-1E94-BB533985CA2C}"/>
              </a:ext>
            </a:extLst>
          </p:cNvPr>
          <p:cNvPicPr>
            <a:picLocks noGrp="1" noChangeAspect="1"/>
          </p:cNvPicPr>
          <p:nvPr>
            <p:ph sz="half" idx="1"/>
          </p:nvPr>
        </p:nvPicPr>
        <p:blipFill>
          <a:blip r:embed="rId2"/>
          <a:stretch>
            <a:fillRect/>
          </a:stretch>
        </p:blipFill>
        <p:spPr>
          <a:xfrm>
            <a:off x="939800" y="1368425"/>
            <a:ext cx="3263900" cy="3263900"/>
          </a:xfrm>
          <a:prstGeom prst="rect">
            <a:avLst/>
          </a:prstGeom>
        </p:spPr>
      </p:pic>
      <p:pic>
        <p:nvPicPr>
          <p:cNvPr id="24" name="Content Placeholder 23">
            <a:extLst>
              <a:ext uri="{FF2B5EF4-FFF2-40B4-BE49-F238E27FC236}">
                <a16:creationId xmlns:a16="http://schemas.microsoft.com/office/drawing/2014/main" id="{E7355229-6D91-E12C-E348-B175CA5E94CC}"/>
              </a:ext>
            </a:extLst>
          </p:cNvPr>
          <p:cNvPicPr>
            <a:picLocks noGrp="1" noChangeAspect="1"/>
          </p:cNvPicPr>
          <p:nvPr>
            <p:ph sz="half" idx="2"/>
          </p:nvPr>
        </p:nvPicPr>
        <p:blipFill>
          <a:blip r:embed="rId3"/>
          <a:stretch>
            <a:fillRect/>
          </a:stretch>
        </p:blipFill>
        <p:spPr>
          <a:xfrm>
            <a:off x="4940300" y="1368425"/>
            <a:ext cx="3263900" cy="32639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Estimated population processes and management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Commercially preferred males (&gt;=101 mm CW)</a:t>
            </a:r>
          </a:p>
        </p:txBody>
      </p:sp>
      <p:sp>
        <p:nvSpPr>
          <p:cNvPr id="3" name="Content Placeholder 2"/>
          <p:cNvSpPr>
            <a:spLocks noGrp="1"/>
          </p:cNvSpPr>
          <p:nvPr>
            <p:ph idx="1"/>
          </p:nvPr>
        </p:nvSpPr>
        <p:spPr/>
        <p:txBody>
          <a:bodyPr/>
          <a:lstStyle/>
          <a:p>
            <a:pPr lvl="0"/>
            <a:r>
              <a:t>Estimated abundance of commercially preferred male crab varies among models – particularly in the early years where survey selectivity by era differs.</a:t>
            </a:r>
          </a:p>
          <a:p>
            <a:pPr lvl="0"/>
            <a:r>
              <a:rPr b="1"/>
              <a:t>All models agree</a:t>
            </a:r>
            <a:r>
              <a:t>: abundance in recent years is at the </a:t>
            </a:r>
            <a:r>
              <a:rPr b="1"/>
              <a:t>lowest in the time series</a:t>
            </a:r>
            <a:r>
              <a:t>.</a:t>
            </a:r>
          </a:p>
          <a:p>
            <a:pPr lvl="0"/>
            <a:r>
              <a:t>2025 survey biomass of preferred males = </a:t>
            </a:r>
            <a:r>
              <a:rPr b="1"/>
              <a:t>23.28 kt</a:t>
            </a:r>
            <a:r>
              <a:t>.</a:t>
            </a:r>
          </a:p>
          <a:p>
            <a:pPr lvl="0"/>
            <a:r>
              <a:t>Most recent survey selectivity estimates are similar across models for both sexes.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Probability of terminal molt at size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pPr lvl="0"/>
                <a:r>
                  <a:t>Probability of undergoing terminal molt is </a:t>
                </a:r>
                <a:r>
                  <a:rPr b="1"/>
                  <a:t>input as data</a:t>
                </a:r>
                <a:r>
                  <a:t>.</a:t>
                </a:r>
              </a:p>
              <a:p>
                <a:pPr lvl="0"/>
                <a:r>
                  <a:rPr b="1"/>
                  <a:t>Legacy workflow:</a:t>
                </a:r>
                <a:r>
                  <a:t> strong increasing trend through time at intermediate sizes (at 77 mm: ~0.2 in early 1990s </a:t>
                </a:r>
                <a14:m>
                  <m:oMath xmlns:m="http://schemas.openxmlformats.org/officeDocument/2006/math">
                    <m:r>
                      <a:rPr>
                        <a:latin typeface="Cambria Math" panose="02040503050406030204" pitchFamily="18" charset="0"/>
                      </a:rPr>
                      <m:t>→</m:t>
                    </m:r>
                  </m:oMath>
                </a14:m>
                <a:r>
                  <a:t> ~0.5 after 2010).</a:t>
                </a:r>
              </a:p>
              <a:p>
                <a:pPr lvl="0"/>
                <a:r>
                  <a:rPr b="1"/>
                  <a:t>New workflow (</a:t>
                </a:r>
                <a:r>
                  <a:rPr b="1">
                    <a:latin typeface="Courier"/>
                  </a:rPr>
                  <a:t>sdmTMB</a:t>
                </a:r>
                <a:r>
                  <a:rPr b="1"/>
                  <a:t>):</a:t>
                </a:r>
                <a:r>
                  <a:t> much weaker temporal trend (~0.35–0.45 throughout).</a:t>
                </a:r>
              </a:p>
              <a:p>
                <a:pPr lvl="0"/>
                <a:r>
                  <a:t>Difference in workflows propagates into the size composition data and the magnitude of recruitment to the fishery.</a:t>
                </a:r>
              </a:p>
              <a:p>
                <a:pPr marL="0" lvl="0" indent="0">
                  <a:buNone/>
                </a:pPr>
                <a:r>
                  <a:t>Implication: very different reference points and OFLs across </a:t>
                </a:r>
                <a:r>
                  <a:rPr>
                    <a:latin typeface="Courier"/>
                  </a:rPr>
                  <a:t>Models 25.1*</a:t>
                </a:r>
                <a:r>
                  <a:t> vs. </a:t>
                </a:r>
                <a:r>
                  <a:rPr>
                    <a:latin typeface="Courier"/>
                  </a:rPr>
                  <a:t>25.2*</a:t>
                </a:r>
                <a:r>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04" t="-3113"/>
                </a:stretch>
              </a:blipFill>
            </p:spPr>
            <p:txBody>
              <a:bodyPr/>
              <a:lstStyle/>
              <a:p>
                <a:r>
                  <a:rPr 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Recruitment</a:t>
            </a:r>
          </a:p>
        </p:txBody>
      </p:sp>
      <p:sp>
        <p:nvSpPr>
          <p:cNvPr id="3" name="Content Placeholder 2"/>
          <p:cNvSpPr>
            <a:spLocks noGrp="1"/>
          </p:cNvSpPr>
          <p:nvPr>
            <p:ph idx="1"/>
          </p:nvPr>
        </p:nvSpPr>
        <p:spPr/>
        <p:txBody>
          <a:bodyPr/>
          <a:lstStyle/>
          <a:p>
            <a:pPr lvl="0"/>
            <a:r>
              <a:t>Recruitment trends very similar across models for the </a:t>
            </a:r>
            <a:r>
              <a:rPr b="1"/>
              <a:t>early time series</a:t>
            </a:r>
            <a:r>
              <a:t>, with some differences in scale and sex-specific timing.</a:t>
            </a:r>
          </a:p>
          <a:p>
            <a:pPr lvl="0"/>
            <a:r>
              <a:t>Differences in </a:t>
            </a:r>
            <a:r>
              <a:rPr b="1"/>
              <a:t>recent-year recruitment</a:t>
            </a:r>
            <a:r>
              <a:t> are observed among models for males and contribute to differences in OFLs.</a:t>
            </a:r>
          </a:p>
          <a:p>
            <a:pPr lvl="0"/>
            <a:r>
              <a:t>Sex-specific recruitment timing remains an open issue raised by the SSC – see Author Responses.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Natural mortality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pPr lvl="0"/>
                <a:r>
                  <a:t>Base </a:t>
                </a:r>
                <a14:m>
                  <m:oMath xmlns:m="http://schemas.openxmlformats.org/officeDocument/2006/math">
                    <m:r>
                      <a:rPr>
                        <a:latin typeface="Cambria Math" panose="02040503050406030204" pitchFamily="18" charset="0"/>
                      </a:rPr>
                      <m:t>𝑀</m:t>
                    </m:r>
                  </m:oMath>
                </a14:m>
                <a:r>
                  <a:t> for mature animals of both sexes is </a:t>
                </a:r>
                <a:r>
                  <a:rPr b="1"/>
                  <a:t>broadly similar across models</a:t>
                </a:r>
                <a:r>
                  <a:t>, with one important exception:</a:t>
                </a:r>
              </a:p>
              <a:p>
                <a:pPr lvl="1"/>
                <a:r>
                  <a:rPr b="1"/>
                  <a:t>Models with the immature survey index produce substantially higher mature male </a:t>
                </a:r>
                <a14:m>
                  <m:oMath xmlns:m="http://schemas.openxmlformats.org/officeDocument/2006/math">
                    <m:r>
                      <a:rPr>
                        <a:latin typeface="Cambria Math" panose="02040503050406030204" pitchFamily="18" charset="0"/>
                      </a:rPr>
                      <m:t>𝑀</m:t>
                    </m:r>
                  </m:oMath>
                </a14:m>
                <a:r>
                  <a:t>, which propagates into smaller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t> and lower OFL.</a:t>
                </a:r>
              </a:p>
              <a:p>
                <a:pPr lvl="0"/>
                <a:r>
                  <a:t>All models estimated additional mortality events removing </a:t>
                </a:r>
                <a14:m>
                  <m:oMath xmlns:m="http://schemas.openxmlformats.org/officeDocument/2006/math">
                    <m:r>
                      <a:rPr>
                        <a:latin typeface="Cambria Math" panose="02040503050406030204" pitchFamily="18" charset="0"/>
                      </a:rPr>
                      <m:t>≥</m:t>
                    </m:r>
                  </m:oMath>
                </a14:m>
                <a:r>
                  <a:t> 80% of crab by sex/maturity (except mature females) at some point during the </a:t>
                </a:r>
                <a:r>
                  <a:rPr b="1"/>
                  <a:t>2018–19 marine heatwave</a:t>
                </a:r>
                <a:r>
                  <a:t>.</a:t>
                </a:r>
              </a:p>
              <a:p>
                <a:pPr lvl="0"/>
                <a:r>
                  <a:rPr>
                    <a:latin typeface="Courier"/>
                  </a:rPr>
                  <a:t>Model 25.3c</a:t>
                </a:r>
                <a:r>
                  <a:t> estimated immature female </a:t>
                </a:r>
                <a14:m>
                  <m:oMath xmlns:m="http://schemas.openxmlformats.org/officeDocument/2006/math">
                    <m:r>
                      <a:rPr>
                        <a:latin typeface="Cambria Math" panose="02040503050406030204" pitchFamily="18" charset="0"/>
                      </a:rPr>
                      <m:t>𝑀</m:t>
                    </m:r>
                  </m:oMath>
                </a14:m>
                <a:r>
                  <a:t> above 100 in 2019 (~600) – much higher than other models. Suggests this configuration </a:t>
                </a:r>
                <a:r>
                  <a:rPr b="1"/>
                  <a:t>should not be used to provide management advice</a:t>
                </a:r>
                <a:r>
                  <a:t>, or that females should be excluded from the management model.</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82" t="-2335" r="-482"/>
                </a:stretch>
              </a:blipFill>
            </p:spPr>
            <p:txBody>
              <a:bodyPr/>
              <a:lstStyle/>
              <a:p>
                <a:r>
                  <a:rPr 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194414511"/>
              </p:ext>
            </p:extLst>
          </p:nvPr>
        </p:nvGraphicFramePr>
        <p:xfrm>
          <a:off x="457200" y="342900"/>
          <a:ext cx="8229600" cy="44577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lgn="l">
                        <a:buNone/>
                      </a:pPr>
                      <a:r>
                        <a:t>Model</a:t>
                      </a:r>
                    </a:p>
                  </a:txBody>
                  <a:tcPr/>
                </a:tc>
                <a:tc>
                  <a:txBody>
                    <a:bodyPr/>
                    <a:lstStyle/>
                    <a:p>
                      <a:pPr marL="0" lvl="0" indent="0" algn="r">
                        <a:buNone/>
                      </a:pPr>
                      <a:r>
                        <a:rPr dirty="0"/>
                        <a:t>Mature M</a:t>
                      </a:r>
                      <a:r>
                        <a:rPr lang="en-US" dirty="0"/>
                        <a:t> (2024)</a:t>
                      </a:r>
                      <a:endParaRPr dirty="0"/>
                    </a:p>
                  </a:txBody>
                  <a:tcPr/>
                </a:tc>
                <a:tc>
                  <a:txBody>
                    <a:bodyPr/>
                    <a:lstStyle/>
                    <a:p>
                      <a:pPr marL="0" lvl="0" indent="0" algn="r">
                        <a:buNone/>
                      </a:pPr>
                      <a:r>
                        <a:rPr dirty="0"/>
                        <a:t>Immature M</a:t>
                      </a:r>
                      <a:r>
                        <a:rPr lang="en-US" dirty="0"/>
                        <a:t> (2024)</a:t>
                      </a:r>
                      <a:endParaRPr dirty="0"/>
                    </a:p>
                  </a:txBody>
                  <a:tcPr/>
                </a:tc>
                <a:extLst>
                  <a:ext uri="{0D108BD9-81ED-4DB2-BD59-A6C34878D82A}">
                    <a16:rowId xmlns:a16="http://schemas.microsoft.com/office/drawing/2014/main" val="10000"/>
                  </a:ext>
                </a:extLst>
              </a:tr>
              <a:tr h="0">
                <a:tc>
                  <a:txBody>
                    <a:bodyPr/>
                    <a:lstStyle/>
                    <a:p>
                      <a:pPr marL="0" lvl="0" indent="0" algn="l">
                        <a:buNone/>
                      </a:pPr>
                      <a:r>
                        <a:t>Model 25</a:t>
                      </a:r>
                    </a:p>
                  </a:txBody>
                  <a:tcPr/>
                </a:tc>
                <a:tc>
                  <a:txBody>
                    <a:bodyPr/>
                    <a:lstStyle/>
                    <a:p>
                      <a:pPr marL="0" lvl="0" indent="0" algn="r">
                        <a:buNone/>
                      </a:pPr>
                      <a:r>
                        <a:t>0.285</a:t>
                      </a:r>
                    </a:p>
                  </a:txBody>
                  <a:tcPr/>
                </a:tc>
                <a:tc>
                  <a:txBody>
                    <a:bodyPr/>
                    <a:lstStyle/>
                    <a:p>
                      <a:pPr marL="0" lvl="0" indent="0" algn="r">
                        <a:buNone/>
                      </a:pPr>
                      <a:r>
                        <a:t>0.292</a:t>
                      </a:r>
                    </a:p>
                  </a:txBody>
                  <a:tcPr/>
                </a:tc>
                <a:extLst>
                  <a:ext uri="{0D108BD9-81ED-4DB2-BD59-A6C34878D82A}">
                    <a16:rowId xmlns:a16="http://schemas.microsoft.com/office/drawing/2014/main" val="10001"/>
                  </a:ext>
                </a:extLst>
              </a:tr>
              <a:tr h="0">
                <a:tc>
                  <a:txBody>
                    <a:bodyPr/>
                    <a:lstStyle/>
                    <a:p>
                      <a:pPr marL="0" lvl="0" indent="0" algn="l">
                        <a:buNone/>
                      </a:pPr>
                      <a:r>
                        <a:t>Model 25.1a</a:t>
                      </a:r>
                    </a:p>
                  </a:txBody>
                  <a:tcPr/>
                </a:tc>
                <a:tc>
                  <a:txBody>
                    <a:bodyPr/>
                    <a:lstStyle/>
                    <a:p>
                      <a:pPr marL="0" lvl="0" indent="0" algn="r">
                        <a:buNone/>
                      </a:pPr>
                      <a:r>
                        <a:t>0.284</a:t>
                      </a:r>
                    </a:p>
                  </a:txBody>
                  <a:tcPr/>
                </a:tc>
                <a:tc>
                  <a:txBody>
                    <a:bodyPr/>
                    <a:lstStyle/>
                    <a:p>
                      <a:pPr marL="0" lvl="0" indent="0" algn="r">
                        <a:buNone/>
                      </a:pPr>
                      <a:r>
                        <a:rPr dirty="0"/>
                        <a:t>0.278</a:t>
                      </a:r>
                    </a:p>
                  </a:txBody>
                  <a:tcPr/>
                </a:tc>
                <a:extLst>
                  <a:ext uri="{0D108BD9-81ED-4DB2-BD59-A6C34878D82A}">
                    <a16:rowId xmlns:a16="http://schemas.microsoft.com/office/drawing/2014/main" val="10002"/>
                  </a:ext>
                </a:extLst>
              </a:tr>
              <a:tr h="0">
                <a:tc>
                  <a:txBody>
                    <a:bodyPr/>
                    <a:lstStyle/>
                    <a:p>
                      <a:pPr marL="0" lvl="0" indent="0" algn="l">
                        <a:buNone/>
                      </a:pPr>
                      <a:r>
                        <a:t>Model 25.1b</a:t>
                      </a:r>
                    </a:p>
                  </a:txBody>
                  <a:tcPr/>
                </a:tc>
                <a:tc>
                  <a:txBody>
                    <a:bodyPr/>
                    <a:lstStyle/>
                    <a:p>
                      <a:pPr marL="0" lvl="0" indent="0" algn="r">
                        <a:buNone/>
                      </a:pPr>
                      <a:r>
                        <a:t>0.284</a:t>
                      </a:r>
                    </a:p>
                  </a:txBody>
                  <a:tcPr/>
                </a:tc>
                <a:tc>
                  <a:txBody>
                    <a:bodyPr/>
                    <a:lstStyle/>
                    <a:p>
                      <a:pPr marL="0" lvl="0" indent="0" algn="r">
                        <a:buNone/>
                      </a:pPr>
                      <a:r>
                        <a:t>0.300</a:t>
                      </a:r>
                    </a:p>
                  </a:txBody>
                  <a:tcPr/>
                </a:tc>
                <a:extLst>
                  <a:ext uri="{0D108BD9-81ED-4DB2-BD59-A6C34878D82A}">
                    <a16:rowId xmlns:a16="http://schemas.microsoft.com/office/drawing/2014/main" val="10003"/>
                  </a:ext>
                </a:extLst>
              </a:tr>
              <a:tr h="0">
                <a:tc>
                  <a:txBody>
                    <a:bodyPr/>
                    <a:lstStyle/>
                    <a:p>
                      <a:pPr marL="0" lvl="0" indent="0" algn="l">
                        <a:buNone/>
                      </a:pPr>
                      <a:r>
                        <a:t>Model 25.1c</a:t>
                      </a:r>
                    </a:p>
                  </a:txBody>
                  <a:tcPr/>
                </a:tc>
                <a:tc>
                  <a:txBody>
                    <a:bodyPr/>
                    <a:lstStyle/>
                    <a:p>
                      <a:pPr marL="0" lvl="0" indent="0" algn="r">
                        <a:buNone/>
                      </a:pPr>
                      <a:r>
                        <a:t>0.285</a:t>
                      </a:r>
                    </a:p>
                  </a:txBody>
                  <a:tcPr/>
                </a:tc>
                <a:tc>
                  <a:txBody>
                    <a:bodyPr/>
                    <a:lstStyle/>
                    <a:p>
                      <a:pPr marL="0" lvl="0" indent="0" algn="r">
                        <a:buNone/>
                      </a:pPr>
                      <a:r>
                        <a:t>0.292</a:t>
                      </a:r>
                    </a:p>
                  </a:txBody>
                  <a:tcPr/>
                </a:tc>
                <a:extLst>
                  <a:ext uri="{0D108BD9-81ED-4DB2-BD59-A6C34878D82A}">
                    <a16:rowId xmlns:a16="http://schemas.microsoft.com/office/drawing/2014/main" val="10004"/>
                  </a:ext>
                </a:extLst>
              </a:tr>
              <a:tr h="0">
                <a:tc>
                  <a:txBody>
                    <a:bodyPr/>
                    <a:lstStyle/>
                    <a:p>
                      <a:pPr marL="0" lvl="0" indent="0" algn="l">
                        <a:buNone/>
                      </a:pPr>
                      <a:r>
                        <a:rPr dirty="0">
                          <a:highlight>
                            <a:srgbClr val="FFFF00"/>
                          </a:highlight>
                        </a:rPr>
                        <a:t>Model 25.1d</a:t>
                      </a:r>
                    </a:p>
                  </a:txBody>
                  <a:tcPr/>
                </a:tc>
                <a:tc>
                  <a:txBody>
                    <a:bodyPr/>
                    <a:lstStyle/>
                    <a:p>
                      <a:pPr marL="0" lvl="0" indent="0" algn="r">
                        <a:buNone/>
                      </a:pPr>
                      <a:r>
                        <a:rPr dirty="0">
                          <a:highlight>
                            <a:srgbClr val="FFFF00"/>
                          </a:highlight>
                        </a:rPr>
                        <a:t>0.662</a:t>
                      </a:r>
                    </a:p>
                  </a:txBody>
                  <a:tcPr/>
                </a:tc>
                <a:tc>
                  <a:txBody>
                    <a:bodyPr/>
                    <a:lstStyle/>
                    <a:p>
                      <a:pPr marL="0" lvl="0" indent="0" algn="r">
                        <a:buNone/>
                      </a:pPr>
                      <a:r>
                        <a:rPr dirty="0">
                          <a:highlight>
                            <a:srgbClr val="FFFF00"/>
                          </a:highlight>
                        </a:rPr>
                        <a:t>0.382</a:t>
                      </a:r>
                    </a:p>
                  </a:txBody>
                  <a:tcPr/>
                </a:tc>
                <a:extLst>
                  <a:ext uri="{0D108BD9-81ED-4DB2-BD59-A6C34878D82A}">
                    <a16:rowId xmlns:a16="http://schemas.microsoft.com/office/drawing/2014/main" val="10005"/>
                  </a:ext>
                </a:extLst>
              </a:tr>
              <a:tr h="0">
                <a:tc>
                  <a:txBody>
                    <a:bodyPr/>
                    <a:lstStyle/>
                    <a:p>
                      <a:pPr marL="0" lvl="0" indent="0" algn="l">
                        <a:buNone/>
                      </a:pPr>
                      <a:r>
                        <a:rPr>
                          <a:highlight>
                            <a:srgbClr val="FFFF00"/>
                          </a:highlight>
                        </a:rPr>
                        <a:t>Model 25.1e</a:t>
                      </a:r>
                    </a:p>
                  </a:txBody>
                  <a:tcPr/>
                </a:tc>
                <a:tc>
                  <a:txBody>
                    <a:bodyPr/>
                    <a:lstStyle/>
                    <a:p>
                      <a:pPr marL="0" lvl="0" indent="0" algn="r">
                        <a:buNone/>
                      </a:pPr>
                      <a:r>
                        <a:rPr>
                          <a:highlight>
                            <a:srgbClr val="FFFF00"/>
                          </a:highlight>
                        </a:rPr>
                        <a:t>0.647</a:t>
                      </a:r>
                    </a:p>
                  </a:txBody>
                  <a:tcPr/>
                </a:tc>
                <a:tc>
                  <a:txBody>
                    <a:bodyPr/>
                    <a:lstStyle/>
                    <a:p>
                      <a:pPr marL="0" lvl="0" indent="0" algn="r">
                        <a:buNone/>
                      </a:pPr>
                      <a:r>
                        <a:rPr dirty="0">
                          <a:highlight>
                            <a:srgbClr val="FFFF00"/>
                          </a:highlight>
                        </a:rPr>
                        <a:t>0.384</a:t>
                      </a:r>
                    </a:p>
                  </a:txBody>
                  <a:tcPr/>
                </a:tc>
                <a:extLst>
                  <a:ext uri="{0D108BD9-81ED-4DB2-BD59-A6C34878D82A}">
                    <a16:rowId xmlns:a16="http://schemas.microsoft.com/office/drawing/2014/main" val="10006"/>
                  </a:ext>
                </a:extLst>
              </a:tr>
              <a:tr h="0">
                <a:tc>
                  <a:txBody>
                    <a:bodyPr/>
                    <a:lstStyle/>
                    <a:p>
                      <a:pPr marL="0" lvl="0" indent="0" algn="l">
                        <a:buNone/>
                      </a:pPr>
                      <a:r>
                        <a:t>Model 25.2a</a:t>
                      </a:r>
                    </a:p>
                  </a:txBody>
                  <a:tcPr/>
                </a:tc>
                <a:tc>
                  <a:txBody>
                    <a:bodyPr/>
                    <a:lstStyle/>
                    <a:p>
                      <a:pPr marL="0" lvl="0" indent="0" algn="r">
                        <a:buNone/>
                      </a:pPr>
                      <a:r>
                        <a:t>0.288</a:t>
                      </a:r>
                    </a:p>
                  </a:txBody>
                  <a:tcPr/>
                </a:tc>
                <a:tc>
                  <a:txBody>
                    <a:bodyPr/>
                    <a:lstStyle/>
                    <a:p>
                      <a:pPr marL="0" lvl="0" indent="0" algn="r">
                        <a:buNone/>
                      </a:pPr>
                      <a:r>
                        <a:t>0.283</a:t>
                      </a:r>
                    </a:p>
                  </a:txBody>
                  <a:tcPr/>
                </a:tc>
                <a:extLst>
                  <a:ext uri="{0D108BD9-81ED-4DB2-BD59-A6C34878D82A}">
                    <a16:rowId xmlns:a16="http://schemas.microsoft.com/office/drawing/2014/main" val="10007"/>
                  </a:ext>
                </a:extLst>
              </a:tr>
              <a:tr h="0">
                <a:tc>
                  <a:txBody>
                    <a:bodyPr/>
                    <a:lstStyle/>
                    <a:p>
                      <a:pPr marL="0" lvl="0" indent="0" algn="l">
                        <a:buNone/>
                      </a:pPr>
                      <a:r>
                        <a:t>Model 25.2b</a:t>
                      </a:r>
                    </a:p>
                  </a:txBody>
                  <a:tcPr/>
                </a:tc>
                <a:tc>
                  <a:txBody>
                    <a:bodyPr/>
                    <a:lstStyle/>
                    <a:p>
                      <a:pPr marL="0" lvl="0" indent="0" algn="r">
                        <a:buNone/>
                      </a:pPr>
                      <a:r>
                        <a:t>0.288</a:t>
                      </a:r>
                    </a:p>
                  </a:txBody>
                  <a:tcPr/>
                </a:tc>
                <a:tc>
                  <a:txBody>
                    <a:bodyPr/>
                    <a:lstStyle/>
                    <a:p>
                      <a:pPr marL="0" lvl="0" indent="0" algn="r">
                        <a:buNone/>
                      </a:pPr>
                      <a:r>
                        <a:t>0.285</a:t>
                      </a:r>
                    </a:p>
                  </a:txBody>
                  <a:tcPr/>
                </a:tc>
                <a:extLst>
                  <a:ext uri="{0D108BD9-81ED-4DB2-BD59-A6C34878D82A}">
                    <a16:rowId xmlns:a16="http://schemas.microsoft.com/office/drawing/2014/main" val="10008"/>
                  </a:ext>
                </a:extLst>
              </a:tr>
              <a:tr h="0">
                <a:tc>
                  <a:txBody>
                    <a:bodyPr/>
                    <a:lstStyle/>
                    <a:p>
                      <a:pPr marL="0" lvl="0" indent="0" algn="l">
                        <a:buNone/>
                      </a:pPr>
                      <a:r>
                        <a:t>Model 25.2c</a:t>
                      </a:r>
                    </a:p>
                  </a:txBody>
                  <a:tcPr/>
                </a:tc>
                <a:tc>
                  <a:txBody>
                    <a:bodyPr/>
                    <a:lstStyle/>
                    <a:p>
                      <a:pPr marL="0" lvl="0" indent="0" algn="r">
                        <a:buNone/>
                      </a:pPr>
                      <a:r>
                        <a:t>0.288</a:t>
                      </a:r>
                    </a:p>
                  </a:txBody>
                  <a:tcPr/>
                </a:tc>
                <a:tc>
                  <a:txBody>
                    <a:bodyPr/>
                    <a:lstStyle/>
                    <a:p>
                      <a:pPr marL="0" lvl="0" indent="0" algn="r">
                        <a:buNone/>
                      </a:pPr>
                      <a:r>
                        <a:t>0.281</a:t>
                      </a:r>
                    </a:p>
                  </a:txBody>
                  <a:tcPr/>
                </a:tc>
                <a:extLst>
                  <a:ext uri="{0D108BD9-81ED-4DB2-BD59-A6C34878D82A}">
                    <a16:rowId xmlns:a16="http://schemas.microsoft.com/office/drawing/2014/main" val="10009"/>
                  </a:ext>
                </a:extLst>
              </a:tr>
              <a:tr h="0">
                <a:tc>
                  <a:txBody>
                    <a:bodyPr/>
                    <a:lstStyle/>
                    <a:p>
                      <a:pPr marL="0" lvl="0" indent="0" algn="l">
                        <a:buNone/>
                      </a:pPr>
                      <a:r>
                        <a:t>Model 25.2d</a:t>
                      </a:r>
                    </a:p>
                  </a:txBody>
                  <a:tcPr/>
                </a:tc>
                <a:tc>
                  <a:txBody>
                    <a:bodyPr/>
                    <a:lstStyle/>
                    <a:p>
                      <a:pPr marL="0" lvl="0" indent="0" algn="r">
                        <a:buNone/>
                      </a:pPr>
                      <a:r>
                        <a:t>0.315</a:t>
                      </a:r>
                    </a:p>
                  </a:txBody>
                  <a:tcPr/>
                </a:tc>
                <a:tc>
                  <a:txBody>
                    <a:bodyPr/>
                    <a:lstStyle/>
                    <a:p>
                      <a:pPr marL="0" lvl="0" indent="0" algn="r">
                        <a:buNone/>
                      </a:pPr>
                      <a:r>
                        <a:t>0.373</a:t>
                      </a:r>
                    </a:p>
                  </a:txBody>
                  <a:tcPr/>
                </a:tc>
                <a:extLst>
                  <a:ext uri="{0D108BD9-81ED-4DB2-BD59-A6C34878D82A}">
                    <a16:rowId xmlns:a16="http://schemas.microsoft.com/office/drawing/2014/main" val="10010"/>
                  </a:ext>
                </a:extLst>
              </a:tr>
              <a:tr h="0">
                <a:tc>
                  <a:txBody>
                    <a:bodyPr/>
                    <a:lstStyle/>
                    <a:p>
                      <a:pPr marL="0" lvl="0" indent="0" algn="l">
                        <a:buNone/>
                      </a:pPr>
                      <a:r>
                        <a:t>Model 25.3a</a:t>
                      </a:r>
                    </a:p>
                  </a:txBody>
                  <a:tcPr/>
                </a:tc>
                <a:tc>
                  <a:txBody>
                    <a:bodyPr/>
                    <a:lstStyle/>
                    <a:p>
                      <a:pPr marL="0" lvl="0" indent="0" algn="r">
                        <a:buNone/>
                      </a:pPr>
                      <a:r>
                        <a:t>0.293</a:t>
                      </a:r>
                    </a:p>
                  </a:txBody>
                  <a:tcPr/>
                </a:tc>
                <a:tc>
                  <a:txBody>
                    <a:bodyPr/>
                    <a:lstStyle/>
                    <a:p>
                      <a:pPr marL="0" lvl="0" indent="0" algn="r">
                        <a:buNone/>
                      </a:pPr>
                      <a:r>
                        <a:t>0.277</a:t>
                      </a:r>
                    </a:p>
                  </a:txBody>
                  <a:tcPr/>
                </a:tc>
                <a:extLst>
                  <a:ext uri="{0D108BD9-81ED-4DB2-BD59-A6C34878D82A}">
                    <a16:rowId xmlns:a16="http://schemas.microsoft.com/office/drawing/2014/main" val="10011"/>
                  </a:ext>
                </a:extLst>
              </a:tr>
              <a:tr h="0">
                <a:tc>
                  <a:txBody>
                    <a:bodyPr/>
                    <a:lstStyle/>
                    <a:p>
                      <a:pPr marL="0" lvl="0" indent="0" algn="l">
                        <a:buNone/>
                      </a:pPr>
                      <a:r>
                        <a:t>Model 25.3b</a:t>
                      </a:r>
                    </a:p>
                  </a:txBody>
                  <a:tcPr/>
                </a:tc>
                <a:tc>
                  <a:txBody>
                    <a:bodyPr/>
                    <a:lstStyle/>
                    <a:p>
                      <a:pPr marL="0" lvl="0" indent="0" algn="r">
                        <a:buNone/>
                      </a:pPr>
                      <a:r>
                        <a:t>0.285</a:t>
                      </a:r>
                    </a:p>
                  </a:txBody>
                  <a:tcPr/>
                </a:tc>
                <a:tc>
                  <a:txBody>
                    <a:bodyPr/>
                    <a:lstStyle/>
                    <a:p>
                      <a:pPr marL="0" lvl="0" indent="0" algn="r">
                        <a:buNone/>
                      </a:pPr>
                      <a:r>
                        <a:t>0.270</a:t>
                      </a:r>
                    </a:p>
                  </a:txBody>
                  <a:tcPr/>
                </a:tc>
                <a:extLst>
                  <a:ext uri="{0D108BD9-81ED-4DB2-BD59-A6C34878D82A}">
                    <a16:rowId xmlns:a16="http://schemas.microsoft.com/office/drawing/2014/main" val="10012"/>
                  </a:ext>
                </a:extLst>
              </a:tr>
              <a:tr h="0">
                <a:tc>
                  <a:txBody>
                    <a:bodyPr/>
                    <a:lstStyle/>
                    <a:p>
                      <a:pPr marL="0" lvl="0" indent="0" algn="l">
                        <a:buNone/>
                      </a:pPr>
                      <a:r>
                        <a:t>Model 25.3c</a:t>
                      </a:r>
                    </a:p>
                  </a:txBody>
                  <a:tcPr/>
                </a:tc>
                <a:tc>
                  <a:txBody>
                    <a:bodyPr/>
                    <a:lstStyle/>
                    <a:p>
                      <a:pPr marL="0" lvl="0" indent="0" algn="r">
                        <a:buNone/>
                      </a:pPr>
                      <a:r>
                        <a:t>0.293</a:t>
                      </a:r>
                    </a:p>
                  </a:txBody>
                  <a:tcPr/>
                </a:tc>
                <a:tc>
                  <a:txBody>
                    <a:bodyPr/>
                    <a:lstStyle/>
                    <a:p>
                      <a:pPr marL="0" lvl="0" indent="0" algn="r">
                        <a:buNone/>
                      </a:pPr>
                      <a:r>
                        <a:t>0.271</a:t>
                      </a:r>
                    </a:p>
                  </a:txBody>
                  <a:tcPr/>
                </a:tc>
                <a:extLst>
                  <a:ext uri="{0D108BD9-81ED-4DB2-BD59-A6C34878D82A}">
                    <a16:rowId xmlns:a16="http://schemas.microsoft.com/office/drawing/2014/main" val="10013"/>
                  </a:ext>
                </a:extLst>
              </a:tr>
              <a:tr h="0">
                <a:tc>
                  <a:txBody>
                    <a:bodyPr/>
                    <a:lstStyle/>
                    <a:p>
                      <a:pPr marL="0" lvl="0" indent="0" algn="l">
                        <a:buNone/>
                      </a:pPr>
                      <a:r>
                        <a:t>Model 25.3d</a:t>
                      </a:r>
                    </a:p>
                  </a:txBody>
                  <a:tcPr/>
                </a:tc>
                <a:tc>
                  <a:txBody>
                    <a:bodyPr/>
                    <a:lstStyle/>
                    <a:p>
                      <a:pPr marL="0" lvl="0" indent="0" algn="r">
                        <a:buNone/>
                      </a:pPr>
                      <a:r>
                        <a:t>0.293</a:t>
                      </a:r>
                    </a:p>
                  </a:txBody>
                  <a:tcPr/>
                </a:tc>
                <a:tc>
                  <a:txBody>
                    <a:bodyPr/>
                    <a:lstStyle/>
                    <a:p>
                      <a:pPr marL="0" lvl="0" indent="0" algn="r">
                        <a:buNone/>
                      </a:pPr>
                      <a:r>
                        <a:rPr dirty="0"/>
                        <a:t>0.300</a:t>
                      </a:r>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MMB time series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7500" lnSpcReduction="20000"/>
              </a:bodyPr>
              <a:lstStyle/>
              <a:p>
                <a:pPr lvl="0"/>
                <a:r>
                  <a:rPr dirty="0"/>
                  <a:t>Trends in MMB are </a:t>
                </a:r>
                <a:r>
                  <a:rPr b="1" dirty="0"/>
                  <a:t>similar across models</a:t>
                </a:r>
                <a:r>
                  <a:rPr dirty="0"/>
                  <a:t>; </a:t>
                </a:r>
                <a:r>
                  <a:rPr b="1" dirty="0"/>
                  <a:t>scales differ by up to ~50%</a:t>
                </a:r>
                <a:r>
                  <a:rPr dirty="0"/>
                  <a:t> in some years</a:t>
                </a:r>
                <a:r>
                  <a:rPr lang="en-US" dirty="0"/>
                  <a:t> (especially immature survey runs)</a:t>
                </a:r>
                <a:r>
                  <a:rPr dirty="0"/>
                  <a:t>.</a:t>
                </a:r>
              </a:p>
              <a:p>
                <a:pPr lvl="0"/>
                <a:r>
                  <a:rPr dirty="0"/>
                  <a:t>Status (</a:t>
                </a:r>
                <a:r>
                  <a:rPr dirty="0" err="1"/>
                  <a:t>Bcurr</a:t>
                </a:r>
                <a:r>
                  <a:rPr dirty="0"/>
                  <a:t>/</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ranges 0.86–1.01 across the candidate set.</a:t>
                </a:r>
              </a:p>
              <a:p>
                <a:pPr lvl="0"/>
                <a:r>
                  <a:rPr dirty="0"/>
                  <a:t>Hybrid-fishery and hybrid-both models produce slightly lower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proxies (~168–170 kt) than the corresponding non-hybrid, non-immature-index models (~172–181 kt) due to the additional fishing mortality.</a:t>
                </a:r>
              </a:p>
              <a:p>
                <a:pPr lvl="0"/>
                <a:r>
                  <a:rPr dirty="0"/>
                  <a:t>New-maturity (no immature index) models cluster at ~172–178 kt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but produce the </a:t>
                </a:r>
                <a:r>
                  <a:rPr b="1" dirty="0"/>
                  <a:t>highest non-immature-index OFLs</a:t>
                </a:r>
                <a:r>
                  <a:rPr dirty="0"/>
                  <a:t> (~50–52 kt) because the weaker time trend in </a:t>
                </a:r>
                <a14:m>
                  <m:oMath xmlns:m="http://schemas.openxmlformats.org/officeDocument/2006/math">
                    <m:r>
                      <m:rPr>
                        <m:sty m:val="p"/>
                      </m:rPr>
                      <a:rPr>
                        <a:latin typeface="Cambria Math" panose="02040503050406030204" pitchFamily="18" charset="0"/>
                      </a:rPr>
                      <m:t>Pr</m:t>
                    </m:r>
                  </m:oMath>
                </a14:m>
                <a:r>
                  <a:rPr dirty="0"/>
                  <a:t>(terminal molt) makes more crab available at fishery sizes.</a:t>
                </a:r>
              </a:p>
              <a:p>
                <a:pPr lvl="0"/>
                <a:r>
                  <a:rPr dirty="0"/>
                  <a:t>Immature-index sensitivities (no new maturity) are outliers: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~94–96 kt, OFL ~36 kt.</a:t>
                </a:r>
              </a:p>
              <a:p>
                <a:pPr lvl="0"/>
                <a:r>
                  <a:rPr dirty="0"/>
                  <a:t>Combined immature-index + new-maturity (</a:t>
                </a:r>
                <a:r>
                  <a:rPr dirty="0">
                    <a:latin typeface="Courier"/>
                  </a:rPr>
                  <a:t>Model 25.2d</a:t>
                </a:r>
                <a:r>
                  <a:rPr dirty="0"/>
                  <a:t>): </a:t>
                </a:r>
                <a:r>
                  <a:rPr b="1" dirty="0"/>
                  <a:t>highest OFL of the set (~60 kt)</a:t>
                </a:r>
                <a:r>
                  <a:rPr dirty="0"/>
                  <a:t> at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rPr dirty="0"/>
                  <a:t> = 163 kt; very large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𝑀𝑆𝑌</m:t>
                        </m:r>
                      </m:sub>
                    </m:sSub>
                  </m:oMath>
                </a14:m>
                <a:r>
                  <a:rPr dirty="0"/>
                  <a:t> and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𝐹</m:t>
                        </m:r>
                      </m:e>
                      <m:sub>
                        <m:r>
                          <a:rPr>
                            <a:latin typeface="Cambria Math" panose="02040503050406030204" pitchFamily="18" charset="0"/>
                          </a:rPr>
                          <m:t>𝑂𝐹𝐿</m:t>
                        </m:r>
                      </m:sub>
                    </m:sSub>
                  </m:oMath>
                </a14:m>
                <a:r>
                  <a:rPr dirty="0"/>
                  <a:t> (~71 and ~63).</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22" t="-2724" r="-161"/>
                </a:stretch>
              </a:blipFill>
            </p:spPr>
            <p:txBody>
              <a:bodyPr/>
              <a:lstStyle/>
              <a:p>
                <a:r>
                  <a:rPr 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MMB time series across models</a:t>
            </a:r>
          </a:p>
        </p:txBody>
      </p:sp>
      <p:pic>
        <p:nvPicPr>
          <p:cNvPr id="3" name="Picture 1" descr="Snow2026_may_CPT_files/figure-pptx/mmb-timeseries-1.png"/>
          <p:cNvPicPr>
            <a:picLocks noGrp="1" noChangeAspect="1"/>
          </p:cNvPicPr>
          <p:nvPr/>
        </p:nvPicPr>
        <p:blipFill>
          <a:blip r:embed="rId2"/>
          <a:stretch>
            <a:fillRect/>
          </a:stretch>
        </p:blipFill>
        <p:spPr bwMode="auto">
          <a:xfrm>
            <a:off x="876300" y="1193800"/>
            <a:ext cx="7378700" cy="3390900"/>
          </a:xfrm>
          <a:prstGeom prst="rect">
            <a:avLst/>
          </a:prstGeom>
          <a:noFill/>
          <a:ln w="9525">
            <a:noFill/>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OFL 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20000"/>
              </a:bodyPr>
              <a:lstStyle/>
              <a:p>
                <a:pPr lvl="0"/>
                <a:r>
                  <a:t>Tier 3 OFLs across the 14 candidates: </a:t>
                </a:r>
                <a:r>
                  <a:rPr b="1"/>
                  <a:t>~36 to ~60 kt</a:t>
                </a:r>
                <a:r>
                  <a:t>.</a:t>
                </a:r>
              </a:p>
              <a:p>
                <a:pPr lvl="0"/>
                <a:r>
                  <a:t>For reference, </a:t>
                </a:r>
                <a:r>
                  <a:rPr b="1"/>
                  <a:t>2025 survey commercially-preferred male biomass = 23.28 kt</a:t>
                </a:r>
                <a:r>
                  <a:t>.</a:t>
                </a:r>
              </a:p>
              <a:p>
                <a:pPr lvl="0"/>
                <a:r>
                  <a:t>Differences driven by:</a:t>
                </a:r>
              </a:p>
              <a:p>
                <a:pPr marL="685800" lvl="1" indent="-342900">
                  <a:buAutoNum type="arabicPeriod"/>
                </a:pPr>
                <a:r>
                  <a:t>Estimated </a:t>
                </a:r>
                <a14:m>
                  <m:oMath xmlns:m="http://schemas.openxmlformats.org/officeDocument/2006/math">
                    <m:r>
                      <a:rPr>
                        <a:latin typeface="Cambria Math" panose="02040503050406030204" pitchFamily="18" charset="0"/>
                      </a:rPr>
                      <m:t>𝑀</m:t>
                    </m:r>
                  </m:oMath>
                </a14:m>
                <a:r>
                  <a:t> on mature males (highest in immature-index models).</a:t>
                </a:r>
              </a:p>
              <a:p>
                <a:pPr marL="685800" lvl="1" indent="-342900">
                  <a:buAutoNum type="arabicPeriod"/>
                </a:pPr>
                <a:r>
                  <a:t>Time trend of </a:t>
                </a:r>
                <a14:m>
                  <m:oMath xmlns:m="http://schemas.openxmlformats.org/officeDocument/2006/math">
                    <m:r>
                      <m:rPr>
                        <m:sty m:val="p"/>
                      </m:rPr>
                      <a:rPr>
                        <a:latin typeface="Cambria Math" panose="02040503050406030204" pitchFamily="18" charset="0"/>
                      </a:rPr>
                      <m:t>Pr</m:t>
                    </m:r>
                  </m:oMath>
                </a14:m>
                <a:r>
                  <a:t>(terminal molt) (legacy vs. new maturity).</a:t>
                </a:r>
              </a:p>
              <a:p>
                <a:pPr marL="685800" lvl="1" indent="-342900">
                  <a:buAutoNum type="arabicPeriod"/>
                </a:pPr>
                <a:r>
                  <a:t>Additional discard </a:t>
                </a:r>
                <a14:m>
                  <m:oMath xmlns:m="http://schemas.openxmlformats.org/officeDocument/2006/math">
                    <m:r>
                      <a:rPr>
                        <a:latin typeface="Cambria Math" panose="02040503050406030204" pitchFamily="18" charset="0"/>
                      </a:rPr>
                      <m:t>𝐹</m:t>
                    </m:r>
                  </m:oMath>
                </a14:m>
                <a:r>
                  <a:t> implied by hybrid catches (lowers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𝑀𝑆𝑌</m:t>
                        </m:r>
                      </m:sub>
                    </m:sSub>
                  </m:oMath>
                </a14:m>
                <a:r>
                  <a:t> slightly).</a:t>
                </a:r>
              </a:p>
              <a:p>
                <a:pPr lvl="0"/>
                <a:r>
                  <a:t>The immature-index sensitivities and the new-maturity sensitivities </a:t>
                </a:r>
                <a:r>
                  <a:rPr b="1"/>
                  <a:t>bracket the candidate set</a:t>
                </a:r>
                <a:r>
                  <a:t>.</a:t>
                </a:r>
              </a:p>
              <a:p>
                <a:pPr lvl="0"/>
                <a:r>
                  <a:rPr b="1"/>
                  <a:t>Tier 4 fallback</a:t>
                </a:r>
                <a:r>
                  <a:t> will be presented in September following the standardized REMA-smoothed mature-male approach (October 2024 SSC).</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82" t="-3502"/>
                </a:stretch>
              </a:blipFill>
            </p:spPr>
            <p:txBody>
              <a:bodyPr/>
              <a:lstStyle/>
              <a:p>
                <a:r>
                  <a:rPr 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ABC buffer considerations</a:t>
            </a:r>
          </a:p>
        </p:txBody>
      </p:sp>
      <p:sp>
        <p:nvSpPr>
          <p:cNvPr id="3" name="Content Placeholder 2"/>
          <p:cNvSpPr>
            <a:spLocks noGrp="1"/>
          </p:cNvSpPr>
          <p:nvPr>
            <p:ph idx="1"/>
          </p:nvPr>
        </p:nvSpPr>
        <p:spPr/>
        <p:txBody>
          <a:bodyPr/>
          <a:lstStyle/>
          <a:p>
            <a:pPr lvl="0"/>
            <a:r>
              <a:t>ABC = OFL </a:t>
            </a:r>
            <a14:m xmlns:a14="http://schemas.microsoft.com/office/drawing/2010/main">
              <m:oMath xmlns:m="http://schemas.openxmlformats.org/officeDocument/2006/math">
                <m:r>
                  <a:rPr>
                    <a:latin typeface="Cambria Math" panose="02040503050406030204" pitchFamily="18" charset="0"/>
                  </a:rPr>
                  <m:t>×</m:t>
                </m:r>
              </m:oMath>
            </a14:m>
            <a:r>
              <a:t> (1 – buffer).</a:t>
            </a:r>
          </a:p>
          <a:p>
            <a:pPr lvl="0"/>
            <a:r>
              <a:t>SSC buffers used in recent years: </a:t>
            </a:r>
            <a:r>
              <a:rPr b="1"/>
              <a:t>25% (2025), 65% (2024), 50% (2023), 25% (2021), 25% (2020)</a:t>
            </a:r>
            <a:r>
              <a:t>.</a:t>
            </a:r>
          </a:p>
          <a:p>
            <a:pPr lvl="0"/>
            <a:r>
              <a:t>Because </a:t>
            </a:r>
            <a:r>
              <a:rPr b="1"/>
              <a:t>retained catch contains hybrids that cannot currently be separated</a:t>
            </a:r>
            <a:r>
              <a:t> from snow crab, the assessment recommends that </a:t>
            </a:r>
            <a:r>
              <a:rPr b="1"/>
              <a:t>the buffer accommodate the unknown retained-hybrid component</a:t>
            </a:r>
            <a:r>
              <a:t>.</a:t>
            </a:r>
          </a:p>
          <a:p>
            <a:pPr lvl="0"/>
            <a:r>
              <a:t>No author-recommended buffer is proposed at this time; this will be revisited in September with a smaller candidate set.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Author requests and recommendations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Areas where the author seeks CPT/SSC guidance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77500" lnSpcReduction="20000"/>
              </a:bodyPr>
              <a:lstStyle/>
              <a:p>
                <a:pPr marL="0" lvl="0" indent="0">
                  <a:buNone/>
                </a:pPr>
                <a:r>
                  <a:t>This is a preliminary document. </a:t>
                </a:r>
                <a:r>
                  <a:rPr b="1"/>
                  <a:t>No author-preferred model is recommended.</a:t>
                </a:r>
                <a:r>
                  <a:t> The author seeks guidance on:</a:t>
                </a:r>
              </a:p>
              <a:p>
                <a:pPr marL="342900" lvl="0" indent="-342900">
                  <a:buAutoNum type="arabicPeriod"/>
                </a:pPr>
                <a:r>
                  <a:rPr b="1"/>
                  <a:t>Plus-group structural change</a:t>
                </a:r>
                <a:r>
                  <a:t> (&gt;135 mm CW): faster, more interpretable size comp at the largest sizes, minimal change in management quantities. </a:t>
                </a:r>
                <a:r>
                  <a:rPr i="1"/>
                  <a:t>Author suggests adopting as the new structural baseline for September.</a:t>
                </a:r>
              </a:p>
              <a:p>
                <a:pPr marL="342900" lvl="0" indent="-342900">
                  <a:buAutoNum type="arabicPeriod"/>
                </a:pPr>
                <a:r>
                  <a:rPr b="1"/>
                  <a:t>Inclusion of an immature survey index:</a:t>
                </a:r>
                <a:r>
                  <a:t> resolves bimodality, but produces a much larger mature-male </a:t>
                </a:r>
                <a14:m>
                  <m:oMath xmlns:m="http://schemas.openxmlformats.org/officeDocument/2006/math">
                    <m:r>
                      <a:rPr>
                        <a:latin typeface="Cambria Math" panose="02040503050406030204" pitchFamily="18" charset="0"/>
                      </a:rPr>
                      <m:t>𝑀</m:t>
                    </m:r>
                  </m:oMath>
                </a14:m>
                <a:r>
                  <a:t>. </a:t>
                </a:r>
                <a:r>
                  <a:rPr i="1"/>
                  <a:t>Will investigate biological credibility before September.</a:t>
                </a:r>
              </a:p>
              <a:p>
                <a:pPr marL="342900" lvl="0" indent="-342900">
                  <a:buAutoNum type="arabicPeriod"/>
                </a:pPr>
                <a:r>
                  <a:rPr b="1"/>
                  <a:t>New maturity workflow:</a:t>
                </a:r>
                <a:r>
                  <a:t> weaker temporal trend in </a:t>
                </a:r>
                <a14:m>
                  <m:oMath xmlns:m="http://schemas.openxmlformats.org/officeDocument/2006/math">
                    <m:r>
                      <m:rPr>
                        <m:sty m:val="p"/>
                      </m:rPr>
                      <a:rPr>
                        <a:latin typeface="Cambria Math" panose="02040503050406030204" pitchFamily="18" charset="0"/>
                      </a:rPr>
                      <m:t>Pr</m:t>
                    </m:r>
                  </m:oMath>
                </a14:m>
                <a:r>
                  <a:t>(terminal molt) than the legacy workflow. </a:t>
                </a:r>
                <a:r>
                  <a:rPr i="1"/>
                  <a:t>No strong preference; seeking guidance.</a:t>
                </a:r>
              </a:p>
              <a:p>
                <a:pPr marL="342900" lvl="0" indent="-342900">
                  <a:buAutoNum type="arabicPeriod"/>
                </a:pPr>
                <a:r>
                  <a:rPr b="1"/>
                  <a:t>Hybrid treatment:</a:t>
                </a:r>
                <a:r>
                  <a:t> modest effect on management quantities; data-quality concerns flagged by ADF&amp;G in 1997–98. </a:t>
                </a:r>
                <a:r>
                  <a:rPr i="1"/>
                  <a:t>Author recommends one snow-only and one snow+hybrid (survey + fishery) sensitivity moving forward.</a:t>
                </a:r>
              </a:p>
              <a:p>
                <a:pPr marL="342900" lvl="0" indent="-342900">
                  <a:buAutoNum type="arabicPeriod"/>
                </a:pPr>
                <a:r>
                  <a:rPr b="1"/>
                  <a:t>Convergence improvements:</a:t>
                </a:r>
                <a:r>
                  <a:t> none of the 14 candidates is fully clean. </a:t>
                </a:r>
                <a:r>
                  <a:rPr i="1"/>
                  <a:t>Author seeks guidance on what aspects of the model could be simplified</a:t>
                </a:r>
                <a:r>
                  <a:t> (male-only, fix </a:t>
                </a:r>
                <a14:m>
                  <m:oMath xmlns:m="http://schemas.openxmlformats.org/officeDocument/2006/math">
                    <m:r>
                      <a:rPr>
                        <a:latin typeface="Cambria Math" panose="02040503050406030204" pitchFamily="18" charset="0"/>
                      </a:rPr>
                      <m:t>𝑀</m:t>
                    </m:r>
                  </m:oMath>
                </a14:m>
                <a:r>
                  <a:t>, simpler survey selectivity).</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82" t="-2724" r="-482"/>
                </a:stretch>
              </a:blipFill>
            </p:spPr>
            <p:txBody>
              <a:bodyPr/>
              <a:lstStyle/>
              <a:p>
                <a:r>
                  <a:rPr 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Plan for September 2026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pPr marL="342900" lvl="0" indent="-342900">
                  <a:buAutoNum type="alphaLcParenBoth"/>
                </a:pPr>
                <a:r>
                  <a:rPr b="1"/>
                  <a:t>Finalize structural choices</a:t>
                </a:r>
                <a:r>
                  <a:t> (plus group, maturity workflow, immature survey inclusion).</a:t>
                </a:r>
              </a:p>
              <a:p>
                <a:pPr marL="342900" lvl="0" indent="-342900">
                  <a:buAutoNum type="alphaLcParenBoth"/>
                </a:pPr>
                <a:r>
                  <a:t>Update the </a:t>
                </a:r>
                <a:r>
                  <a:rPr b="1"/>
                  <a:t>Tier 4 fallback</a:t>
                </a:r>
                <a:r>
                  <a:t> following the October 2024 SSC standardization.</a:t>
                </a:r>
              </a:p>
              <a:p>
                <a:pPr marL="342900" lvl="0" indent="-342900">
                  <a:buAutoNum type="alphaLcParenBoth"/>
                </a:pPr>
                <a:r>
                  <a:rPr b="1"/>
                  <a:t>Investigate the high mature-male </a:t>
                </a:r>
                <a14:m>
                  <m:oMath xmlns:m="http://schemas.openxmlformats.org/officeDocument/2006/math">
                    <m:r>
                      <a:rPr>
                        <a:latin typeface="Cambria Math" panose="02040503050406030204" pitchFamily="18" charset="0"/>
                      </a:rPr>
                      <m:t>𝑀</m:t>
                    </m:r>
                  </m:oMath>
                </a14:m>
                <a:r>
                  <a:t> associated with the immature index – biologically credible or model misspecification?</a:t>
                </a:r>
              </a:p>
              <a:p>
                <a:pPr marL="342900" lvl="0" indent="-342900">
                  <a:buAutoNum type="alphaLcParenBoth"/>
                </a:pPr>
                <a:r>
                  <a:t>Complete </a:t>
                </a:r>
                <a:r>
                  <a:rPr b="1"/>
                  <a:t>retrospective patterns</a:t>
                </a:r>
                <a:r>
                  <a:t> and </a:t>
                </a:r>
                <a:r>
                  <a:rPr b="1"/>
                  <a:t>likelihood profiles</a:t>
                </a:r>
                <a:r>
                  <a:t> for the recommended models.</a:t>
                </a:r>
              </a:p>
              <a:p>
                <a:pPr marL="342900" lvl="0" indent="-342900">
                  <a:buAutoNum type="alphaLcParenBoth"/>
                </a:pPr>
                <a:r>
                  <a:t>Update </a:t>
                </a:r>
                <a:r>
                  <a:rPr b="1"/>
                  <a:t>rebuilding</a:t>
                </a:r>
                <a:r>
                  <a:t> and provide updated rebuilding timeline diagnostics.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43" t="-2335"/>
                </a:stretch>
              </a:blipFill>
            </p:spPr>
            <p:txBody>
              <a:bodyPr/>
              <a:lstStyle/>
              <a:p>
                <a:r>
                  <a:rPr lang="en-US">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gaps and research priorities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Data gaps and research priorities</a:t>
            </a:r>
          </a:p>
        </p:txBody>
      </p:sp>
      <p:sp>
        <p:nvSpPr>
          <p:cNvPr id="3" name="Content Placeholder 2"/>
          <p:cNvSpPr>
            <a:spLocks noGrp="1"/>
          </p:cNvSpPr>
          <p:nvPr>
            <p:ph idx="1"/>
          </p:nvPr>
        </p:nvSpPr>
        <p:spPr/>
        <p:txBody>
          <a:bodyPr>
            <a:normAutofit fontScale="77500" lnSpcReduction="20000"/>
          </a:bodyPr>
          <a:lstStyle/>
          <a:p>
            <a:pPr lvl="0"/>
            <a:r>
              <a:rPr b="1"/>
              <a:t>Hybrid identification consistency between ADF&amp;G and NMFS.</a:t>
            </a:r>
            <a:r>
              <a:t> Different criteria for the number of secondary characteristics required for a positive hybrid identification.</a:t>
            </a:r>
          </a:p>
          <a:p>
            <a:pPr lvl="0"/>
            <a:r>
              <a:rPr b="1"/>
              <a:t>Apportionment of retained catch between snow and hybrids.</a:t>
            </a:r>
            <a:r>
              <a:t> Currently retained catch contains both, with no method to partition.</a:t>
            </a:r>
          </a:p>
          <a:p>
            <a:pPr lvl="0"/>
            <a:r>
              <a:rPr b="1"/>
              <a:t>Quality control on early hybrid catch estimates.</a:t>
            </a:r>
            <a:r>
              <a:t> 1997–98 catches flagged by ADF&amp;G.</a:t>
            </a:r>
          </a:p>
          <a:p>
            <a:pPr lvl="0"/>
            <a:r>
              <a:rPr b="1"/>
              <a:t>Maturity workflow comparison.</a:t>
            </a:r>
            <a:r>
              <a:t> Side-by-side documentation, sample-size diagnostics, and uncertainty quantification for the legacy vs. </a:t>
            </a:r>
            <a:r>
              <a:rPr>
                <a:latin typeface="Courier"/>
              </a:rPr>
              <a:t>sdmTMB</a:t>
            </a:r>
            <a:r>
              <a:t> workflows.</a:t>
            </a:r>
          </a:p>
          <a:p>
            <a:pPr lvl="0"/>
            <a:r>
              <a:rPr b="1"/>
              <a:t>Source of bimodality</a:t>
            </a:r>
            <a:r>
              <a:t> in the snow crab assessment. Focused investigation to identify which parameter combinations produce the two clouds.</a:t>
            </a:r>
          </a:p>
          <a:p>
            <a:pPr lvl="0"/>
            <a:r>
              <a:rPr b="1"/>
              <a:t>Reproductive biology of large male snow crab.</a:t>
            </a:r>
            <a:r>
              <a:t> Whether small males can produce progeny that become large males remains the central scientific uncertainty for management.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Acknowledgments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Thank you</a:t>
            </a:r>
          </a:p>
        </p:txBody>
      </p:sp>
      <p:sp>
        <p:nvSpPr>
          <p:cNvPr id="3" name="Content Placeholder 2"/>
          <p:cNvSpPr>
            <a:spLocks noGrp="1"/>
          </p:cNvSpPr>
          <p:nvPr>
            <p:ph idx="1"/>
          </p:nvPr>
        </p:nvSpPr>
        <p:spPr/>
        <p:txBody>
          <a:bodyPr/>
          <a:lstStyle/>
          <a:p>
            <a:pPr marL="0" lvl="0" indent="0">
              <a:buNone/>
            </a:pPr>
            <a:r>
              <a:t>Tyler Jackson and Ben Daly (ADF&amp;G) – hybrid catch, composition, and discard data products</a:t>
            </a:r>
          </a:p>
          <a:p>
            <a:pPr marL="0" lvl="0" indent="0">
              <a:buNone/>
            </a:pPr>
            <a:r>
              <a:t>Erin Ryznar and the Kodiak lab – new maturity workflow</a:t>
            </a:r>
          </a:p>
          <a:p>
            <a:pPr marL="0" lvl="0" indent="0">
              <a:buNone/>
            </a:pPr>
            <a:r>
              <a:t>André Punt, Buck Stockhausen, Matthieu Veron – GMACS development</a:t>
            </a:r>
          </a:p>
          <a:p>
            <a:pPr marL="0" lvl="0" indent="0">
              <a:buNone/>
            </a:pPr>
            <a:r>
              <a:t>CPT and SSC – comments and guidance</a:t>
            </a:r>
          </a:p>
          <a:p>
            <a:pPr marL="0" lvl="0" indent="0">
              <a:buNone/>
            </a:pPr>
            <a:r>
              <a:rPr i="1"/>
              <a:t>Questions and discussion welcome.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Appendix</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Appendix: model – file mapping</a:t>
            </a:r>
          </a:p>
        </p:txBody>
      </p:sp>
      <p:graphicFrame>
        <p:nvGraphicFramePr>
          <p:cNvPr id="6" name="Content Placeholder 5"/>
          <p:cNvGraphicFramePr>
            <a:graphicFrameLocks noGrp="1"/>
          </p:cNvGraphicFramePr>
          <p:nvPr>
            <p:ph idx="1"/>
          </p:nvPr>
        </p:nvGraphicFramePr>
        <p:xfrm>
          <a:off x="457200" y="1193800"/>
          <a:ext cx="8229600" cy="46634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Model</a:t>
                      </a:r>
                    </a:p>
                  </a:txBody>
                  <a:tcPr/>
                </a:tc>
                <a:tc>
                  <a:txBody>
                    <a:bodyPr/>
                    <a:lstStyle/>
                    <a:p>
                      <a:pPr marL="0" lvl="0" indent="0">
                        <a:buNone/>
                      </a:pPr>
                      <a:r>
                        <a:t>Folder</a:t>
                      </a:r>
                    </a:p>
                  </a:txBody>
                  <a:tcPr/>
                </a:tc>
                <a:extLst>
                  <a:ext uri="{0D108BD9-81ED-4DB2-BD59-A6C34878D82A}">
                    <a16:rowId xmlns:a16="http://schemas.microsoft.com/office/drawing/2014/main" val="10000"/>
                  </a:ext>
                </a:extLst>
              </a:tr>
              <a:tr h="0">
                <a:tc>
                  <a:txBody>
                    <a:bodyPr/>
                    <a:lstStyle/>
                    <a:p>
                      <a:pPr marL="0" lvl="0" indent="0">
                        <a:buNone/>
                      </a:pPr>
                      <a:r>
                        <a:t>Model 25</a:t>
                      </a:r>
                    </a:p>
                  </a:txBody>
                  <a:tcPr/>
                </a:tc>
                <a:tc>
                  <a:txBody>
                    <a:bodyPr/>
                    <a:lstStyle/>
                    <a:p>
                      <a:pPr marL="0" lvl="0" indent="0">
                        <a:buNone/>
                      </a:pPr>
                      <a:r>
                        <a:rPr>
                          <a:latin typeface="Courier"/>
                        </a:rPr>
                        <a:t>25_gmacs/</a:t>
                      </a:r>
                    </a:p>
                  </a:txBody>
                  <a:tcPr/>
                </a:tc>
                <a:extLst>
                  <a:ext uri="{0D108BD9-81ED-4DB2-BD59-A6C34878D82A}">
                    <a16:rowId xmlns:a16="http://schemas.microsoft.com/office/drawing/2014/main" val="10001"/>
                  </a:ext>
                </a:extLst>
              </a:tr>
              <a:tr h="0">
                <a:tc>
                  <a:txBody>
                    <a:bodyPr/>
                    <a:lstStyle/>
                    <a:p>
                      <a:pPr marL="0" lvl="0" indent="0">
                        <a:buNone/>
                      </a:pPr>
                      <a:r>
                        <a:t>Model 25.1a</a:t>
                      </a:r>
                    </a:p>
                  </a:txBody>
                  <a:tcPr/>
                </a:tc>
                <a:tc>
                  <a:txBody>
                    <a:bodyPr/>
                    <a:lstStyle/>
                    <a:p>
                      <a:pPr marL="0" lvl="0" indent="0">
                        <a:buNone/>
                      </a:pPr>
                      <a:r>
                        <a:rPr>
                          <a:latin typeface="Courier"/>
                        </a:rPr>
                        <a:t>25_gmacs_update/</a:t>
                      </a:r>
                    </a:p>
                  </a:txBody>
                  <a:tcPr/>
                </a:tc>
                <a:extLst>
                  <a:ext uri="{0D108BD9-81ED-4DB2-BD59-A6C34878D82A}">
                    <a16:rowId xmlns:a16="http://schemas.microsoft.com/office/drawing/2014/main" val="10002"/>
                  </a:ext>
                </a:extLst>
              </a:tr>
              <a:tr h="0">
                <a:tc>
                  <a:txBody>
                    <a:bodyPr/>
                    <a:lstStyle/>
                    <a:p>
                      <a:pPr marL="0" lvl="0" indent="0">
                        <a:buNone/>
                      </a:pPr>
                      <a:r>
                        <a:t>Model 25.1b</a:t>
                      </a:r>
                    </a:p>
                  </a:txBody>
                  <a:tcPr/>
                </a:tc>
                <a:tc>
                  <a:txBody>
                    <a:bodyPr/>
                    <a:lstStyle/>
                    <a:p>
                      <a:pPr marL="0" lvl="0" indent="0">
                        <a:buNone/>
                      </a:pPr>
                      <a:r>
                        <a:rPr>
                          <a:latin typeface="Courier"/>
                        </a:rPr>
                        <a:t>25_gmacs_update_compfix/</a:t>
                      </a:r>
                    </a:p>
                  </a:txBody>
                  <a:tcPr/>
                </a:tc>
                <a:extLst>
                  <a:ext uri="{0D108BD9-81ED-4DB2-BD59-A6C34878D82A}">
                    <a16:rowId xmlns:a16="http://schemas.microsoft.com/office/drawing/2014/main" val="10003"/>
                  </a:ext>
                </a:extLst>
              </a:tr>
              <a:tr h="0">
                <a:tc>
                  <a:txBody>
                    <a:bodyPr/>
                    <a:lstStyle/>
                    <a:p>
                      <a:pPr marL="0" lvl="0" indent="0">
                        <a:buNone/>
                      </a:pPr>
                      <a:r>
                        <a:t>Model 25.1c</a:t>
                      </a:r>
                    </a:p>
                  </a:txBody>
                  <a:tcPr/>
                </a:tc>
                <a:tc>
                  <a:txBody>
                    <a:bodyPr/>
                    <a:lstStyle/>
                    <a:p>
                      <a:pPr marL="0" lvl="0" indent="0">
                        <a:buNone/>
                      </a:pPr>
                      <a:r>
                        <a:rPr>
                          <a:latin typeface="Courier"/>
                        </a:rPr>
                        <a:t>25_gmacs_update_plus_group/</a:t>
                      </a:r>
                    </a:p>
                  </a:txBody>
                  <a:tcPr/>
                </a:tc>
                <a:extLst>
                  <a:ext uri="{0D108BD9-81ED-4DB2-BD59-A6C34878D82A}">
                    <a16:rowId xmlns:a16="http://schemas.microsoft.com/office/drawing/2014/main" val="10004"/>
                  </a:ext>
                </a:extLst>
              </a:tr>
              <a:tr h="0">
                <a:tc>
                  <a:txBody>
                    <a:bodyPr/>
                    <a:lstStyle/>
                    <a:p>
                      <a:pPr marL="0" lvl="0" indent="0">
                        <a:buNone/>
                      </a:pPr>
                      <a:r>
                        <a:t>Model 25.1d</a:t>
                      </a:r>
                    </a:p>
                  </a:txBody>
                  <a:tcPr/>
                </a:tc>
                <a:tc>
                  <a:txBody>
                    <a:bodyPr/>
                    <a:lstStyle/>
                    <a:p>
                      <a:pPr marL="0" lvl="0" indent="0">
                        <a:buNone/>
                      </a:pPr>
                      <a:r>
                        <a:rPr>
                          <a:latin typeface="Courier"/>
                        </a:rPr>
                        <a:t>25_gmacs_update_imm_compfix/</a:t>
                      </a:r>
                    </a:p>
                  </a:txBody>
                  <a:tcPr/>
                </a:tc>
                <a:extLst>
                  <a:ext uri="{0D108BD9-81ED-4DB2-BD59-A6C34878D82A}">
                    <a16:rowId xmlns:a16="http://schemas.microsoft.com/office/drawing/2014/main" val="10005"/>
                  </a:ext>
                </a:extLst>
              </a:tr>
              <a:tr h="0">
                <a:tc>
                  <a:txBody>
                    <a:bodyPr/>
                    <a:lstStyle/>
                    <a:p>
                      <a:pPr marL="0" lvl="0" indent="0">
                        <a:buNone/>
                      </a:pPr>
                      <a:r>
                        <a:t>Model 25.1e</a:t>
                      </a:r>
                    </a:p>
                  </a:txBody>
                  <a:tcPr/>
                </a:tc>
                <a:tc>
                  <a:txBody>
                    <a:bodyPr/>
                    <a:lstStyle/>
                    <a:p>
                      <a:pPr marL="0" lvl="0" indent="0">
                        <a:buNone/>
                      </a:pPr>
                      <a:r>
                        <a:rPr>
                          <a:latin typeface="Courier"/>
                        </a:rPr>
                        <a:t>25_gmacs_update_imm_plus_group/</a:t>
                      </a:r>
                    </a:p>
                  </a:txBody>
                  <a:tcPr/>
                </a:tc>
                <a:extLst>
                  <a:ext uri="{0D108BD9-81ED-4DB2-BD59-A6C34878D82A}">
                    <a16:rowId xmlns:a16="http://schemas.microsoft.com/office/drawing/2014/main" val="10006"/>
                  </a:ext>
                </a:extLst>
              </a:tr>
              <a:tr h="0">
                <a:tc>
                  <a:txBody>
                    <a:bodyPr/>
                    <a:lstStyle/>
                    <a:p>
                      <a:pPr marL="0" lvl="0" indent="0">
                        <a:buNone/>
                      </a:pPr>
                      <a:r>
                        <a:t>Model 25.2a</a:t>
                      </a:r>
                    </a:p>
                  </a:txBody>
                  <a:tcPr/>
                </a:tc>
                <a:tc>
                  <a:txBody>
                    <a:bodyPr/>
                    <a:lstStyle/>
                    <a:p>
                      <a:pPr marL="0" lvl="0" indent="0">
                        <a:buNone/>
                      </a:pPr>
                      <a:r>
                        <a:rPr>
                          <a:latin typeface="Courier"/>
                        </a:rPr>
                        <a:t>25_gmacs_update_newmat/</a:t>
                      </a:r>
                    </a:p>
                  </a:txBody>
                  <a:tcPr/>
                </a:tc>
                <a:extLst>
                  <a:ext uri="{0D108BD9-81ED-4DB2-BD59-A6C34878D82A}">
                    <a16:rowId xmlns:a16="http://schemas.microsoft.com/office/drawing/2014/main" val="10007"/>
                  </a:ext>
                </a:extLst>
              </a:tr>
              <a:tr h="0">
                <a:tc>
                  <a:txBody>
                    <a:bodyPr/>
                    <a:lstStyle/>
                    <a:p>
                      <a:pPr marL="0" lvl="0" indent="0">
                        <a:buNone/>
                      </a:pPr>
                      <a:r>
                        <a:t>Model 25.2b</a:t>
                      </a:r>
                    </a:p>
                  </a:txBody>
                  <a:tcPr/>
                </a:tc>
                <a:tc>
                  <a:txBody>
                    <a:bodyPr/>
                    <a:lstStyle/>
                    <a:p>
                      <a:pPr marL="0" lvl="0" indent="0">
                        <a:buNone/>
                      </a:pPr>
                      <a:r>
                        <a:rPr>
                          <a:latin typeface="Courier"/>
                        </a:rPr>
                        <a:t>25_gmacs_update_newmat_compfix/</a:t>
                      </a:r>
                    </a:p>
                  </a:txBody>
                  <a:tcPr/>
                </a:tc>
                <a:extLst>
                  <a:ext uri="{0D108BD9-81ED-4DB2-BD59-A6C34878D82A}">
                    <a16:rowId xmlns:a16="http://schemas.microsoft.com/office/drawing/2014/main" val="10008"/>
                  </a:ext>
                </a:extLst>
              </a:tr>
              <a:tr h="0">
                <a:tc>
                  <a:txBody>
                    <a:bodyPr/>
                    <a:lstStyle/>
                    <a:p>
                      <a:pPr marL="0" lvl="0" indent="0">
                        <a:buNone/>
                      </a:pPr>
                      <a:r>
                        <a:t>Model 25.2c</a:t>
                      </a:r>
                    </a:p>
                  </a:txBody>
                  <a:tcPr/>
                </a:tc>
                <a:tc>
                  <a:txBody>
                    <a:bodyPr/>
                    <a:lstStyle/>
                    <a:p>
                      <a:pPr marL="0" lvl="0" indent="0">
                        <a:buNone/>
                      </a:pPr>
                      <a:r>
                        <a:rPr>
                          <a:latin typeface="Courier"/>
                        </a:rPr>
                        <a:t>25_gmacs_update_newmat_plus_group/</a:t>
                      </a:r>
                    </a:p>
                  </a:txBody>
                  <a:tcPr/>
                </a:tc>
                <a:extLst>
                  <a:ext uri="{0D108BD9-81ED-4DB2-BD59-A6C34878D82A}">
                    <a16:rowId xmlns:a16="http://schemas.microsoft.com/office/drawing/2014/main" val="10009"/>
                  </a:ext>
                </a:extLst>
              </a:tr>
              <a:tr h="0">
                <a:tc>
                  <a:txBody>
                    <a:bodyPr/>
                    <a:lstStyle/>
                    <a:p>
                      <a:pPr marL="0" lvl="0" indent="0">
                        <a:buNone/>
                      </a:pPr>
                      <a:r>
                        <a:t>Model 25.2d</a:t>
                      </a:r>
                    </a:p>
                  </a:txBody>
                  <a:tcPr/>
                </a:tc>
                <a:tc>
                  <a:txBody>
                    <a:bodyPr/>
                    <a:lstStyle/>
                    <a:p>
                      <a:pPr marL="0" lvl="0" indent="0">
                        <a:buNone/>
                      </a:pPr>
                      <a:r>
                        <a:rPr>
                          <a:latin typeface="Courier"/>
                        </a:rPr>
                        <a:t>25_gmacs_update_newmat_imm_plus_group/</a:t>
                      </a:r>
                    </a:p>
                  </a:txBody>
                  <a:tcPr/>
                </a:tc>
                <a:extLst>
                  <a:ext uri="{0D108BD9-81ED-4DB2-BD59-A6C34878D82A}">
                    <a16:rowId xmlns:a16="http://schemas.microsoft.com/office/drawing/2014/main" val="10010"/>
                  </a:ext>
                </a:extLst>
              </a:tr>
              <a:tr h="0">
                <a:tc>
                  <a:txBody>
                    <a:bodyPr/>
                    <a:lstStyle/>
                    <a:p>
                      <a:pPr marL="0" lvl="0" indent="0">
                        <a:buNone/>
                      </a:pPr>
                      <a:r>
                        <a:t>Model 25.3a</a:t>
                      </a:r>
                    </a:p>
                  </a:txBody>
                  <a:tcPr/>
                </a:tc>
                <a:tc>
                  <a:txBody>
                    <a:bodyPr/>
                    <a:lstStyle/>
                    <a:p>
                      <a:pPr marL="0" lvl="0" indent="0">
                        <a:buNone/>
                      </a:pPr>
                      <a:r>
                        <a:rPr>
                          <a:latin typeface="Courier"/>
                        </a:rPr>
                        <a:t>25_gmacs_update_hyb_fishery/</a:t>
                      </a:r>
                    </a:p>
                  </a:txBody>
                  <a:tcPr/>
                </a:tc>
                <a:extLst>
                  <a:ext uri="{0D108BD9-81ED-4DB2-BD59-A6C34878D82A}">
                    <a16:rowId xmlns:a16="http://schemas.microsoft.com/office/drawing/2014/main" val="10011"/>
                  </a:ext>
                </a:extLst>
              </a:tr>
              <a:tr h="0">
                <a:tc>
                  <a:txBody>
                    <a:bodyPr/>
                    <a:lstStyle/>
                    <a:p>
                      <a:pPr marL="0" lvl="0" indent="0">
                        <a:buNone/>
                      </a:pPr>
                      <a:r>
                        <a:t>Model 25.3b</a:t>
                      </a:r>
                    </a:p>
                  </a:txBody>
                  <a:tcPr/>
                </a:tc>
                <a:tc>
                  <a:txBody>
                    <a:bodyPr/>
                    <a:lstStyle/>
                    <a:p>
                      <a:pPr marL="0" lvl="0" indent="0">
                        <a:buNone/>
                      </a:pPr>
                      <a:r>
                        <a:rPr>
                          <a:latin typeface="Courier"/>
                        </a:rPr>
                        <a:t>25_gmacs_update_hyb_surv/</a:t>
                      </a:r>
                    </a:p>
                  </a:txBody>
                  <a:tcPr/>
                </a:tc>
                <a:extLst>
                  <a:ext uri="{0D108BD9-81ED-4DB2-BD59-A6C34878D82A}">
                    <a16:rowId xmlns:a16="http://schemas.microsoft.com/office/drawing/2014/main" val="10012"/>
                  </a:ext>
                </a:extLst>
              </a:tr>
              <a:tr h="0">
                <a:tc>
                  <a:txBody>
                    <a:bodyPr/>
                    <a:lstStyle/>
                    <a:p>
                      <a:pPr marL="0" lvl="0" indent="0">
                        <a:buNone/>
                      </a:pPr>
                      <a:r>
                        <a:t>Model 25.3c</a:t>
                      </a:r>
                    </a:p>
                  </a:txBody>
                  <a:tcPr/>
                </a:tc>
                <a:tc>
                  <a:txBody>
                    <a:bodyPr/>
                    <a:lstStyle/>
                    <a:p>
                      <a:pPr marL="0" lvl="0" indent="0">
                        <a:buNone/>
                      </a:pPr>
                      <a:r>
                        <a:rPr>
                          <a:latin typeface="Courier"/>
                        </a:rPr>
                        <a:t>25_gmacs_update_hyb_surv_and_fsh/</a:t>
                      </a:r>
                    </a:p>
                  </a:txBody>
                  <a:tcPr/>
                </a:tc>
                <a:extLst>
                  <a:ext uri="{0D108BD9-81ED-4DB2-BD59-A6C34878D82A}">
                    <a16:rowId xmlns:a16="http://schemas.microsoft.com/office/drawing/2014/main" val="10013"/>
                  </a:ext>
                </a:extLst>
              </a:tr>
              <a:tr h="0">
                <a:tc>
                  <a:txBody>
                    <a:bodyPr/>
                    <a:lstStyle/>
                    <a:p>
                      <a:pPr marL="0" lvl="0" indent="0">
                        <a:buNone/>
                      </a:pPr>
                      <a:r>
                        <a:t>Model 25.3d</a:t>
                      </a:r>
                    </a:p>
                  </a:txBody>
                  <a:tcPr/>
                </a:tc>
                <a:tc>
                  <a:txBody>
                    <a:bodyPr/>
                    <a:lstStyle/>
                    <a:p>
                      <a:pPr marL="0" lvl="0" indent="0">
                        <a:buNone/>
                      </a:pPr>
                      <a:r>
                        <a:rPr>
                          <a:latin typeface="Courier"/>
                        </a:rPr>
                        <a:t>25_gmacs_update_hyb_surv_and_fsh_newmat/</a:t>
                      </a:r>
                    </a:p>
                  </a:txBody>
                  <a:tcPr/>
                </a:tc>
                <a:extLst>
                  <a:ext uri="{0D108BD9-81ED-4DB2-BD59-A6C34878D82A}">
                    <a16:rowId xmlns:a16="http://schemas.microsoft.com/office/drawing/2014/main" val="10014"/>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Repository: </a:t>
            </a:r>
            <a:r>
              <a:rPr>
                <a:hlinkClick r:id="rId2"/>
              </a:rPr>
              <a:t>https://github.com/szuwalski/snow_crab/tree/dev-Grant</a:t>
            </a:r>
          </a:p>
          <a:p>
            <a:pPr marL="0" lvl="0" indent="0">
              <a:buNone/>
            </a:pPr>
            <a:r>
              <a:t>Maturity workflow: </a:t>
            </a:r>
            <a:r>
              <a:rPr>
                <a:hlinkClick r:id="rId3"/>
              </a:rPr>
              <a:t>https://github.com/eryznar/Chionoecetes.maturity.workflow</a:t>
            </a:r>
          </a:p>
          <a:p>
            <a:pPr marL="0" lvl="0" indent="0">
              <a:buNone/>
            </a:pPr>
            <a:r>
              <a:t>GMACS: </a:t>
            </a:r>
            <a:r>
              <a:rPr>
                <a:hlinkClick r:id="rId4"/>
              </a:rPr>
              <a:t>https://github.com/GMACS-project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3909</Words>
  <Application>Microsoft Macintosh PowerPoint</Application>
  <PresentationFormat>On-screen Show (16:9)</PresentationFormat>
  <Paragraphs>371</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Aptos</vt:lpstr>
      <vt:lpstr>Aptos Display</vt:lpstr>
      <vt:lpstr>Arial</vt:lpstr>
      <vt:lpstr>Cambria Math</vt:lpstr>
      <vt:lpstr>Courier</vt:lpstr>
      <vt:lpstr>Office Theme</vt:lpstr>
      <vt:lpstr>Eastern Bering Sea snow crab</vt:lpstr>
      <vt:lpstr>Context and SSC/CPT requests</vt:lpstr>
      <vt:lpstr>EBS snow crab context</vt:lpstr>
      <vt:lpstr>Purpose of this preliminary cycle</vt:lpstr>
      <vt:lpstr>SSC comment: hybrids</vt:lpstr>
      <vt:lpstr>SSC comment: jittering and likelihood profiles</vt:lpstr>
      <vt:lpstr>SSC comment: maturity ogive</vt:lpstr>
      <vt:lpstr>SSC comment: morphometric maturity overlay (Fig. 9)</vt:lpstr>
      <vt:lpstr>Other SSC items addressed</vt:lpstr>
      <vt:lpstr>Assessment scenarios</vt:lpstr>
      <vt:lpstr>Model framework</vt:lpstr>
      <vt:lpstr>Abbreviations –</vt:lpstr>
      <vt:lpstr>PowerPoint Presentation</vt:lpstr>
      <vt:lpstr>Axis 1 – Model &amp; composition data updates</vt:lpstr>
      <vt:lpstr>PowerPoint Presentation</vt:lpstr>
      <vt:lpstr>Total male composition fix</vt:lpstr>
      <vt:lpstr>Plus group at &gt;135 mm CW</vt:lpstr>
      <vt:lpstr>Axis 2 – Immature survey biomass index</vt:lpstr>
      <vt:lpstr>NMFS immature survey biomass index</vt:lpstr>
      <vt:lpstr>Axis 3 – New maturity workflow</vt:lpstr>
      <vt:lpstr>New maturity workflow (Kodiak / Ryznar, in prep)</vt:lpstr>
      <vt:lpstr>PowerPoint Presentation</vt:lpstr>
      <vt:lpstr>NMFS survey biomass index – mature crab (maturity effect)</vt:lpstr>
      <vt:lpstr>PowerPoint Presentation</vt:lpstr>
      <vt:lpstr>Axis 4 – Hybrid treatment</vt:lpstr>
      <vt:lpstr>Hybrid data: directed-fishery discards</vt:lpstr>
      <vt:lpstr>PowerPoint Presentation</vt:lpstr>
      <vt:lpstr>Catch data – retained, discards, bycatch</vt:lpstr>
      <vt:lpstr>Pot fishery composition – hybrid effect</vt:lpstr>
      <vt:lpstr>Pot fishery female discard composition</vt:lpstr>
      <vt:lpstr>Hybrid data: NMFS summer trawl survey</vt:lpstr>
      <vt:lpstr>NMFS survey biomass index – mature crab (hybrid effect)</vt:lpstr>
      <vt:lpstr>NMFS survey composition – mature males (hybrid effect)</vt:lpstr>
      <vt:lpstr>Convergence and jitter analysis</vt:lpstr>
      <vt:lpstr>Convergence summary</vt:lpstr>
      <vt:lpstr>Jitter analysis – 100 starts on six models</vt:lpstr>
      <vt:lpstr>Jitter analysis – 2024 male recruitment</vt:lpstr>
      <vt:lpstr>Jitter analysis – 2024 MMB</vt:lpstr>
      <vt:lpstr>Interpreting the jitter results</vt:lpstr>
      <vt:lpstr>Model fits</vt:lpstr>
      <vt:lpstr>Fits to mature survey biomass</vt:lpstr>
      <vt:lpstr>Model fits – mature biomass survey index</vt:lpstr>
      <vt:lpstr>Model fits – immature biomass survey index</vt:lpstr>
      <vt:lpstr>Fits to size composition data – key impressions</vt:lpstr>
      <vt:lpstr>Total-male comp fits, hybrid vs. non-hybrid</vt:lpstr>
      <vt:lpstr>NMFS-immature female comp fits, old vs. new-maturity</vt:lpstr>
      <vt:lpstr>Estimated population processes and management</vt:lpstr>
      <vt:lpstr>Commercially preferred males (&gt;=101 mm CW)</vt:lpstr>
      <vt:lpstr>Probability of terminal molt at size</vt:lpstr>
      <vt:lpstr>Recruitment</vt:lpstr>
      <vt:lpstr>Natural mortality</vt:lpstr>
      <vt:lpstr>PowerPoint Presentation</vt:lpstr>
      <vt:lpstr>MMB time series</vt:lpstr>
      <vt:lpstr>MMB time series across models</vt:lpstr>
      <vt:lpstr>OFL summary</vt:lpstr>
      <vt:lpstr>ABC buffer considerations</vt:lpstr>
      <vt:lpstr>Author requests and recommendations</vt:lpstr>
      <vt:lpstr>Areas where the author seeks CPT/SSC guidance</vt:lpstr>
      <vt:lpstr>Plan for September 2026</vt:lpstr>
      <vt:lpstr>Data gaps and research priorities</vt:lpstr>
      <vt:lpstr>Data gaps and research priorities</vt:lpstr>
      <vt:lpstr>Acknowledgments</vt:lpstr>
      <vt:lpstr>Thank you</vt:lpstr>
      <vt:lpstr>Appendix</vt:lpstr>
      <vt:lpstr>Appendix: model – file mapping</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Eastern Bering Sea snow crab</dc:title>
  <dc:creator>Grant Adams; Cody Szuwalski</dc:creator>
  <cp:keywords/>
  <cp:lastModifiedBy>grant.adams</cp:lastModifiedBy>
  <cp:revision>1</cp:revision>
  <dcterms:created xsi:type="dcterms:W3CDTF">2026-05-11T15:38:19Z</dcterms:created>
  <dcterms:modified xsi:type="dcterms:W3CDTF">2026-05-11T15:51:40Z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2026-05-01</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NOAA Alaska Fisheries Science Center</vt:lpwstr>
  </property>
  <property fmtid="{D5CDD505-2E9C-101B-9397-08002B2CF9AE}" pid="13" name="institutes">
    <vt:lpwstr/>
  </property>
  <property fmtid="{D5CDD505-2E9C-101B-9397-08002B2CF9AE}" pid="14" name="labels">
    <vt:lpwstr/>
  </property>
  <property fmtid="{D5CDD505-2E9C-101B-9397-08002B2CF9AE}" pid="15" name="subtitle">
    <vt:lpwstr>Preliminary 2026 assessment</vt:lpwstr>
  </property>
  <property fmtid="{D5CDD505-2E9C-101B-9397-08002B2CF9AE}" pid="16" name="toc-title">
    <vt:lpwstr>Table of contents</vt:lpwstr>
  </property>
</Properties>
</file>